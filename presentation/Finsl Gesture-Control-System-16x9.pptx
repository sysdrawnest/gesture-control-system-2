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slide21.xml" ContentType="application/vnd.openxmlformats-officedocument.presentationml.slide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92963F5-B191-4304-B2C5-FF65845EF016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28C214-F128-43DF-89FD-40AD2770F1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1940FCB-C3C9-4CB5-BDF9-AD30B7143D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ADDBE1-0ADB-4EF6-8829-15F9E17FB3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2B29B3-704E-4EEC-9F77-EF8726B49B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86B08A-2805-4773-A585-91727CC771D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045553-4D95-418F-8E7C-31C28C2E55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CCF32D-D8BF-4460-96C3-33C086538D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804C97-3126-435D-8B12-2F135AFC4D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F19AD-7DD8-4FD8-B7B8-75F7593017F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CFB941-A78C-406E-B868-3C506A0935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6CD873-B05F-4A71-955D-CB3B41599F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56F77F-3F22-4423-B918-03BB97C6C5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17CCFE-587E-46DA-97FF-B8B0597339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45B388-8D7B-445B-A3A1-B7E6EFD848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FA0BD8-2649-4FAE-8165-1DC4428D63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67DCCF-3943-4296-8E8E-C44C54B0E4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AC8470-8840-4E47-8DCB-E1C85598F43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A52933-8970-44FB-A96B-3119424604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BC9514-7027-4728-A59C-59E94CBDE1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211BD7-3DBC-40A1-BC59-7634AE0916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DA77F6-5E99-4419-8A4D-70037DED01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164520" y="0"/>
            <a:ext cx="8978760" cy="514296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63800" y="-160200"/>
            <a:ext cx="9016200" cy="5740200"/>
          </a:xfrm>
          <a:prstGeom prst="rect">
            <a:avLst/>
          </a:prstGeom>
          <a:ln w="0">
            <a:noFill/>
          </a:ln>
        </p:spPr>
      </p:pic>
      <p:sp>
        <p:nvSpPr>
          <p:cNvPr id="49" name="Shape 2"/>
          <p:cNvSpPr/>
          <p:nvPr/>
        </p:nvSpPr>
        <p:spPr>
          <a:xfrm>
            <a:off x="5943600" y="-457200"/>
            <a:ext cx="4114080" cy="4114080"/>
          </a:xfrm>
          <a:prstGeom prst="ellipse">
            <a:avLst/>
          </a:prstGeom>
          <a:solidFill>
            <a:srgbClr val="0d2a5e">
              <a:alpha val="50000"/>
            </a:srgbClr>
          </a:solidFill>
          <a:ln w="12700">
            <a:solidFill>
              <a:srgbClr val="0d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6583680" y="182880"/>
            <a:ext cx="2742480" cy="2742480"/>
          </a:xfrm>
          <a:prstGeom prst="ellipse">
            <a:avLst/>
          </a:prstGeom>
          <a:solidFill>
            <a:srgbClr val="112f6a">
              <a:alpha val="84000"/>
            </a:srgbClr>
          </a:solidFill>
          <a:ln w="12700">
            <a:solidFill>
              <a:srgbClr val="112f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457200" y="82296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296" strike="noStrike">
                <a:solidFill>
                  <a:srgbClr val="00b8d9"/>
                </a:solidFill>
                <a:latin typeface="Calibri"/>
              </a:rPr>
              <a:t>GESTURE CONTROL SYSTEM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457200" y="1508760"/>
            <a:ext cx="7131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b0c4de"/>
                </a:solidFill>
                <a:latin typeface="Calibri"/>
              </a:rPr>
              <a:t>A Computer Vision Based Approach to Human-Computer 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b0c4de"/>
                </a:solidFill>
                <a:latin typeface="Calibri"/>
              </a:rPr>
              <a:t>Interaction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6"/>
          <p:cNvSpPr/>
          <p:nvPr/>
        </p:nvSpPr>
        <p:spPr>
          <a:xfrm>
            <a:off x="457200" y="2377440"/>
            <a:ext cx="5028480" cy="36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457200" y="260604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Bholasankar Sethi  |  Roll No. 24MCA006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457200" y="295344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Sai Yangyadatta Sethy  |  Roll No. 24MCA030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457200" y="330084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Sanjib Sahu  |  Roll No. 24MCA032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457200" y="3840480"/>
            <a:ext cx="6400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 u="sng">
                <a:solidFill>
                  <a:srgbClr val="00b8d9"/>
                </a:solidFill>
                <a:uFillTx/>
                <a:latin typeface="Calibri"/>
              </a:rPr>
              <a:t>Guide: Mr. Biswojit Nayak</a:t>
            </a:r>
            <a:endParaRPr b="0" lang="en-IN" sz="1300" spc="-1" strike="noStrike" u="sng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Shape 11"/>
          <p:cNvSpPr/>
          <p:nvPr/>
        </p:nvSpPr>
        <p:spPr>
          <a:xfrm>
            <a:off x="457200" y="4297680"/>
            <a:ext cx="2285280" cy="3650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2"/>
          <p:cNvSpPr/>
          <p:nvPr/>
        </p:nvSpPr>
        <p:spPr>
          <a:xfrm>
            <a:off x="457200" y="42976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a1b3d"/>
                </a:solidFill>
                <a:latin typeface="Calibri"/>
              </a:rPr>
              <a:t>MCA Final Year Project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380000" y="981360"/>
            <a:ext cx="1218600" cy="125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INTRODUCTION — Project Definition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274320" y="777240"/>
            <a:ext cx="8594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a6a7a"/>
                </a:solidFill>
                <a:latin typeface="Calibri"/>
              </a:rPr>
              <a:t>A real-time hand gesture recognition system enabling touchless computer control using a standard webcam — no specialized hardware required.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274320" y="1371600"/>
            <a:ext cx="4114080" cy="33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274320" y="1371600"/>
            <a:ext cx="4114080" cy="346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274320" y="137160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TECHNOLOGY MODULES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274320" y="1719000"/>
            <a:ext cx="4114080" cy="35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347400" y="171900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Hand Tracking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1737360" y="171900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MediaPipe Hands — 21 landmarks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274320" y="2075760"/>
            <a:ext cx="4114080" cy="35604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347400" y="207576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Image Processing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1737360" y="207576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OpenCV frame capture &amp; preprocessing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274320" y="2432160"/>
            <a:ext cx="4114080" cy="35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347400" y="243216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Gesture Classification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1737360" y="243216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Rule-based decision tree + finger state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274320" y="2788920"/>
            <a:ext cx="4114080" cy="35604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347400" y="278892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Real-time Comm.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1737360" y="278892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WebSocket + Socket.IO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274320" y="3145680"/>
            <a:ext cx="4114080" cy="35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347400" y="314568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Backend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1737360" y="314568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Flask (Python)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274320" y="3502080"/>
            <a:ext cx="4114080" cy="35604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347400" y="350208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Frontend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1737360" y="350208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Tailwind CSS + JavaScript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6"/>
          <p:cNvSpPr/>
          <p:nvPr/>
        </p:nvSpPr>
        <p:spPr>
          <a:xfrm>
            <a:off x="274320" y="3858840"/>
            <a:ext cx="4114080" cy="35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347400" y="385884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Database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1737360" y="385884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SQLite (local) / MongoDB (cloud)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9"/>
          <p:cNvSpPr/>
          <p:nvPr/>
        </p:nvSpPr>
        <p:spPr>
          <a:xfrm>
            <a:off x="274320" y="4215240"/>
            <a:ext cx="4114080" cy="35604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0"/>
          <p:cNvSpPr/>
          <p:nvPr/>
        </p:nvSpPr>
        <p:spPr>
          <a:xfrm>
            <a:off x="347400" y="4215240"/>
            <a:ext cx="137088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System Automation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1"/>
          <p:cNvSpPr/>
          <p:nvPr/>
        </p:nvSpPr>
        <p:spPr>
          <a:xfrm>
            <a:off x="1737360" y="4215240"/>
            <a:ext cx="255960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PyAutoGUI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2"/>
          <p:cNvSpPr/>
          <p:nvPr/>
        </p:nvSpPr>
        <p:spPr>
          <a:xfrm>
            <a:off x="4663440" y="1371600"/>
            <a:ext cx="4205520" cy="338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3"/>
          <p:cNvSpPr/>
          <p:nvPr/>
        </p:nvSpPr>
        <p:spPr>
          <a:xfrm>
            <a:off x="4663440" y="1371600"/>
            <a:ext cx="4205520" cy="346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4663440" y="137160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KEY ALGORITHMS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5"/>
          <p:cNvSpPr/>
          <p:nvPr/>
        </p:nvSpPr>
        <p:spPr>
          <a:xfrm>
            <a:off x="4846320" y="1874520"/>
            <a:ext cx="3839760" cy="822240"/>
          </a:xfrm>
          <a:prstGeom prst="rect">
            <a:avLst/>
          </a:prstGeom>
          <a:solidFill>
            <a:srgbClr val="f0f8ff"/>
          </a:solidFill>
          <a:ln w="12700">
            <a:solidFill>
              <a:srgbClr val="cce5f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6"/>
          <p:cNvSpPr/>
          <p:nvPr/>
        </p:nvSpPr>
        <p:spPr>
          <a:xfrm>
            <a:off x="4937760" y="192024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Weighted Moving Average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7"/>
          <p:cNvSpPr/>
          <p:nvPr/>
        </p:nvSpPr>
        <p:spPr>
          <a:xfrm>
            <a:off x="4937760" y="221292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Cursor smoothing to reduce jitter by 65%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8"/>
          <p:cNvSpPr/>
          <p:nvPr/>
        </p:nvSpPr>
        <p:spPr>
          <a:xfrm>
            <a:off x="4846320" y="2862000"/>
            <a:ext cx="3839760" cy="822240"/>
          </a:xfrm>
          <a:prstGeom prst="rect">
            <a:avLst/>
          </a:prstGeom>
          <a:solidFill>
            <a:srgbClr val="f0f8ff"/>
          </a:solidFill>
          <a:ln w="12700">
            <a:solidFill>
              <a:srgbClr val="cce5f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4937760" y="29077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Euclidean Distance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0"/>
          <p:cNvSpPr/>
          <p:nvPr/>
        </p:nvSpPr>
        <p:spPr>
          <a:xfrm>
            <a:off x="4937760" y="320040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Pinch detection using thumb-index distance &lt; 30px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1"/>
          <p:cNvSpPr/>
          <p:nvPr/>
        </p:nvSpPr>
        <p:spPr>
          <a:xfrm>
            <a:off x="4846320" y="3849480"/>
            <a:ext cx="3839760" cy="822240"/>
          </a:xfrm>
          <a:prstGeom prst="rect">
            <a:avLst/>
          </a:prstGeom>
          <a:solidFill>
            <a:srgbClr val="f0f8ff"/>
          </a:solidFill>
          <a:ln w="12700">
            <a:solidFill>
              <a:srgbClr val="cce5f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2"/>
          <p:cNvSpPr/>
          <p:nvPr/>
        </p:nvSpPr>
        <p:spPr>
          <a:xfrm>
            <a:off x="4937760" y="389520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Template Matching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3"/>
          <p:cNvSpPr/>
          <p:nvPr/>
        </p:nvSpPr>
        <p:spPr>
          <a:xfrm>
            <a:off x="4937760" y="4187880"/>
            <a:ext cx="3656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Stroke recognition for Air Keyboard input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4"/>
          <p:cNvSpPr/>
          <p:nvPr/>
        </p:nvSpPr>
        <p:spPr>
          <a:xfrm>
            <a:off x="274320" y="4846320"/>
            <a:ext cx="8594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a6a7a"/>
                </a:solidFill>
                <a:latin typeface="Calibri"/>
              </a:rPr>
              <a:t>Architecture: Multi-tier Full-Stack with multi-modal feedback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INTRODUCTION — Scope &amp; Objectives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4"/>
          <p:cNvSpPr/>
          <p:nvPr/>
        </p:nvSpPr>
        <p:spPr>
          <a:xfrm>
            <a:off x="274320" y="777240"/>
            <a:ext cx="4159800" cy="406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274320" y="777240"/>
            <a:ext cx="4159800" cy="346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274320" y="777240"/>
            <a:ext cx="4159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SCOPE OF WORK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384120" y="1261800"/>
            <a:ext cx="72360" cy="511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548640" y="126180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Accessibility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548640" y="14997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Touchless control for physically disabled users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0"/>
          <p:cNvSpPr/>
          <p:nvPr/>
        </p:nvSpPr>
        <p:spPr>
          <a:xfrm>
            <a:off x="384120" y="1956960"/>
            <a:ext cx="72360" cy="511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548640" y="19569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Medical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548640" y="21945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Sterile navigation in operating rooms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384120" y="2651760"/>
            <a:ext cx="72360" cy="511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548640" y="26517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Education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5"/>
          <p:cNvSpPr/>
          <p:nvPr/>
        </p:nvSpPr>
        <p:spPr>
          <a:xfrm>
            <a:off x="548640" y="28893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Interactive, gesture-based presentations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384120" y="3346560"/>
            <a:ext cx="72360" cy="511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548640" y="334656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Smart Home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548640" y="358452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Control lights, fans, curtains via gestures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384120" y="4041720"/>
            <a:ext cx="72360" cy="511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548640" y="404172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Entertainment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48640" y="4279320"/>
            <a:ext cx="3748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Gesture-controlled games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4663440" y="777240"/>
            <a:ext cx="4205520" cy="406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3"/>
          <p:cNvSpPr/>
          <p:nvPr/>
        </p:nvSpPr>
        <p:spPr>
          <a:xfrm>
            <a:off x="4663440" y="777240"/>
            <a:ext cx="4205520" cy="346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4663440" y="777240"/>
            <a:ext cx="42055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OBJECTIVES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4754880" y="1234440"/>
            <a:ext cx="393120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Real-time hand landmark detection at 30+ FPS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Recognize 10+ gestures with &gt;85%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Map gestures to system actions (cursor, click, scroll, zoom)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Build WebSocket client-server architecture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Web dashboard for analytics and device management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Auxiliary apps: Air Canvas, Air Keyboard, Games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Multi-modal feedback (sound, voice, haptics)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LITERATURE REVIEW — Existing Systems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6" name="Table 0"/>
          <p:cNvGraphicFramePr/>
          <p:nvPr/>
        </p:nvGraphicFramePr>
        <p:xfrm>
          <a:off x="274320" y="777240"/>
          <a:ext cx="7497720" cy="268632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822960"/>
                <a:gridCol w="338328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Limitations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1565c0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Leap Motion (2013)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IR Cameras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95%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Proprietary hardware ($100), discontinued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Intel RealSense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Depth Sensing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93%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Expensive ($150–$300), complex SDK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Microsoft Kinect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Structured Light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85%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Discontinued, full-body only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OpenCV Skin Detection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Color Segmentation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30–50%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Fails in varied lighting conditions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MediaPipe Hands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ML (CNN)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90%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No built-in gesture classification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PyAutoGUI + OpenCV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Contour Detection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&lt;40%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Cannot handle complex backgrounds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7" name="Shape 4"/>
          <p:cNvSpPr/>
          <p:nvPr/>
        </p:nvSpPr>
        <p:spPr>
          <a:xfrm>
            <a:off x="274320" y="3657600"/>
            <a:ext cx="8594640" cy="1142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274320" y="3657600"/>
            <a:ext cx="8594640" cy="2919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274320" y="3657600"/>
            <a:ext cx="8594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KEY FINDINGS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411480" y="404172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High accuracy requires specialized hardware or complex ML models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411480" y="438912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Software-only solutions lack precision for practical use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4709160" y="404172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No unified framework with production-ready features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4709160" y="4389120"/>
            <a:ext cx="4114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Accessibility features (voice/haptic feedback) rarely considered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RESEARCH GAP — Identifying the Opportunity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274320" y="777240"/>
            <a:ext cx="8594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a6a7a"/>
                </a:solidFill>
                <a:latin typeface="Calibri"/>
              </a:rPr>
              <a:t>Hardware solutions offer high accuracy but prohibitive costs ($100–$300+), while software-only solutions lack precision for practical, real-world applications.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274320" y="1417320"/>
            <a:ext cx="2833920" cy="2193840"/>
          </a:xfrm>
          <a:prstGeom prst="rect">
            <a:avLst/>
          </a:prstGeom>
          <a:solidFill>
            <a:srgbClr val="fffde7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274320" y="1417320"/>
            <a:ext cx="2833920" cy="3466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274320" y="141732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Cheap Software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384120" y="1874520"/>
            <a:ext cx="26053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Affordable underlying code and logic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Low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Fails in varied lighting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3227760" y="1417320"/>
            <a:ext cx="2833920" cy="219384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3227760" y="1417320"/>
            <a:ext cx="2833920" cy="346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3227760" y="141732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Our System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3337560" y="1874520"/>
            <a:ext cx="26053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Bridges both worlds: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Standard webcam only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85–95%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Production-ready &amp; accessible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6181200" y="1417320"/>
            <a:ext cx="2833920" cy="2193840"/>
          </a:xfrm>
          <a:prstGeom prst="rect">
            <a:avLst/>
          </a:prstGeom>
          <a:solidFill>
            <a:srgbClr val="ffebee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6181200" y="1417320"/>
            <a:ext cx="2833920" cy="3466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6181200" y="141732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Expensive Hardware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6291000" y="1874520"/>
            <a:ext cx="260532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High accuracy systems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$100–$300+ cost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Proprietary / discontinued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274320" y="3749040"/>
            <a:ext cx="8594640" cy="105084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8"/>
          <p:cNvSpPr/>
          <p:nvPr/>
        </p:nvSpPr>
        <p:spPr>
          <a:xfrm>
            <a:off x="274320" y="3749040"/>
            <a:ext cx="8594640" cy="291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9"/>
          <p:cNvSpPr/>
          <p:nvPr/>
        </p:nvSpPr>
        <p:spPr>
          <a:xfrm>
            <a:off x="274320" y="3749040"/>
            <a:ext cx="8594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KEY OPPORTUNITY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411480" y="41331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32"/>
                </a:solidFill>
                <a:latin typeface="Calibri"/>
              </a:rPr>
              <a:t>✔  </a:t>
            </a:r>
            <a:r>
              <a:rPr b="1" lang="en-US" sz="1050" spc="-1" strike="noStrike">
                <a:solidFill>
                  <a:srgbClr val="2e7d32"/>
                </a:solidFill>
                <a:latin typeface="Calibri"/>
              </a:rPr>
              <a:t>Affordable: Standard webcam — no specialized hardware required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4709160" y="41331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✔  </a:t>
            </a: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Accurate: 85–95% accuracy across 11 gestures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411480" y="44438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✔  </a:t>
            </a: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Production-Ready: Full-stack with analytics and device management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4709160" y="444384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✔  </a:t>
            </a:r>
            <a:r>
              <a:rPr b="0" lang="en-US" sz="1050" spc="-1" strike="noStrike">
                <a:solidFill>
                  <a:srgbClr val="2e7d32"/>
                </a:solidFill>
                <a:latin typeface="Calibri"/>
              </a:rPr>
              <a:t>Accessible: Voice feedback, haptic support, multi-device synchronization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PROBLEM STATEMENT — Core Challenges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4"/>
          <p:cNvSpPr/>
          <p:nvPr/>
        </p:nvSpPr>
        <p:spPr>
          <a:xfrm>
            <a:off x="274320" y="804600"/>
            <a:ext cx="4159800" cy="107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274320" y="804600"/>
            <a:ext cx="90720" cy="1078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438840" y="87768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Hardware Dependency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438840" y="1188720"/>
            <a:ext cx="390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High-accuracy systems need expensive proprietary hardware (Leap Motion $100+, Kinect $150+), limiting accessibility.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4663440" y="804600"/>
            <a:ext cx="4159800" cy="107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4663440" y="804600"/>
            <a:ext cx="90720" cy="1078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827960" y="87768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Accuracy vs. Cost Trade-off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4827960" y="1188720"/>
            <a:ext cx="390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Software-only solutions fail in varied lighting, complex backgrounds, and multi-hand scenarios.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2"/>
          <p:cNvSpPr/>
          <p:nvPr/>
        </p:nvSpPr>
        <p:spPr>
          <a:xfrm>
            <a:off x="274320" y="2039040"/>
            <a:ext cx="4159800" cy="107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274320" y="2039040"/>
            <a:ext cx="90720" cy="1078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438840" y="211212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Latency &amp; Responsiveness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438840" y="2423160"/>
            <a:ext cx="390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Real-time control requires &lt;50ms end-to-end latency for natural, responsive interaction.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6"/>
          <p:cNvSpPr/>
          <p:nvPr/>
        </p:nvSpPr>
        <p:spPr>
          <a:xfrm>
            <a:off x="4663440" y="2039040"/>
            <a:ext cx="4159800" cy="107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4663440" y="2039040"/>
            <a:ext cx="90720" cy="1078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4827960" y="211212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Lack of Unified Framework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4827960" y="2423160"/>
            <a:ext cx="390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No solution combines cursor control, Air Canvas, Air Keyboard, games, voice feedback, and web analytics.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0"/>
          <p:cNvSpPr/>
          <p:nvPr/>
        </p:nvSpPr>
        <p:spPr>
          <a:xfrm>
            <a:off x="274320" y="3273480"/>
            <a:ext cx="8594640" cy="107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1"/>
          <p:cNvSpPr/>
          <p:nvPr/>
        </p:nvSpPr>
        <p:spPr>
          <a:xfrm>
            <a:off x="274320" y="3273480"/>
            <a:ext cx="90720" cy="10782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2"/>
          <p:cNvSpPr/>
          <p:nvPr/>
        </p:nvSpPr>
        <p:spPr>
          <a:xfrm>
            <a:off x="438840" y="3346560"/>
            <a:ext cx="8338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Accessibility Gap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23"/>
          <p:cNvSpPr/>
          <p:nvPr/>
        </p:nvSpPr>
        <p:spPr>
          <a:xfrm>
            <a:off x="438840" y="3657600"/>
            <a:ext cx="8338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Most systems ignore multi-modal feedback (voice, haptic) needed by users with disabilities.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4"/>
          <p:cNvSpPr/>
          <p:nvPr/>
        </p:nvSpPr>
        <p:spPr>
          <a:xfrm>
            <a:off x="0" y="4827960"/>
            <a:ext cx="9143280" cy="15480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5"/>
          <p:cNvSpPr/>
          <p:nvPr/>
        </p:nvSpPr>
        <p:spPr>
          <a:xfrm>
            <a:off x="182880" y="4827960"/>
            <a:ext cx="8777520" cy="1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b8d9"/>
                </a:solidFill>
                <a:latin typeface="Calibri"/>
              </a:rPr>
              <a:t>Proposed: Software-only, webcam-based system — MediaPipe + WebSocket + multi-modal feedback — 85%+ accuracy at 30+ FPS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PROBLEM STATEMENT FORMULATION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274320" y="777240"/>
            <a:ext cx="8594640" cy="1142280"/>
          </a:xfrm>
          <a:prstGeom prst="rect">
            <a:avLst/>
          </a:prstGeom>
          <a:solidFill>
            <a:srgbClr val="e3f2fd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274320" y="777240"/>
            <a:ext cx="90720" cy="1142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502920" y="868680"/>
            <a:ext cx="81831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a1a2e"/>
                </a:solidFill>
                <a:latin typeface="Calibri"/>
              </a:rPr>
              <a:t>High accuracy gesture recognition systems require expensive proprietary hardware, while software-only solutions lack sufficient precision for practical use. There is no accessible, production-ready platform that combines high accuracy, comprehensive gesture vocabulary, real-time analytics, and accessibility features using only a standard webcam.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274320" y="205740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</a:rPr>
              <a:t>SPECIFIC PROBLEMS ADDRESSED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274320" y="2487240"/>
            <a:ext cx="415980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274320" y="2487240"/>
            <a:ext cx="410760" cy="5662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274320" y="2487240"/>
            <a:ext cx="410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8d9"/>
                </a:solidFill>
                <a:latin typeface="Calibri"/>
              </a:rPr>
              <a:t>01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777240" y="2487240"/>
            <a:ext cx="3565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Users with disabilities cannot effectively use traditional input devices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4663440" y="2487240"/>
            <a:ext cx="415980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4663440" y="2487240"/>
            <a:ext cx="410760" cy="5662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663440" y="2487240"/>
            <a:ext cx="410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8d9"/>
                </a:solidFill>
                <a:latin typeface="Calibri"/>
              </a:rPr>
              <a:t>02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5166360" y="2487240"/>
            <a:ext cx="3565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Public and shared computers pose hygiene risks due to touch surfaces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274320" y="3200400"/>
            <a:ext cx="415980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7"/>
          <p:cNvSpPr/>
          <p:nvPr/>
        </p:nvSpPr>
        <p:spPr>
          <a:xfrm>
            <a:off x="274320" y="3200400"/>
            <a:ext cx="410760" cy="5662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8"/>
          <p:cNvSpPr/>
          <p:nvPr/>
        </p:nvSpPr>
        <p:spPr>
          <a:xfrm>
            <a:off x="274320" y="3200400"/>
            <a:ext cx="410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8d9"/>
                </a:solidFill>
                <a:latin typeface="Calibri"/>
              </a:rPr>
              <a:t>03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777240" y="3200400"/>
            <a:ext cx="3565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Medical environments require sterile, touchless interaction methods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4663440" y="3200400"/>
            <a:ext cx="415980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4663440" y="3200400"/>
            <a:ext cx="410760" cy="5662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4663440" y="3200400"/>
            <a:ext cx="410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8d9"/>
                </a:solidFill>
                <a:latin typeface="Calibri"/>
              </a:rPr>
              <a:t>04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5166360" y="3200400"/>
            <a:ext cx="35654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Existing solutions are either costly (hardware) or inaccurate (software)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274320" y="3913560"/>
            <a:ext cx="8594640" cy="56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5"/>
          <p:cNvSpPr/>
          <p:nvPr/>
        </p:nvSpPr>
        <p:spPr>
          <a:xfrm>
            <a:off x="274320" y="3913560"/>
            <a:ext cx="410760" cy="5662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274320" y="3913560"/>
            <a:ext cx="4107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8d9"/>
                </a:solidFill>
                <a:latin typeface="Calibri"/>
              </a:rPr>
              <a:t>05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777240" y="3913560"/>
            <a:ext cx="8000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No unified framework exists for gesture logging and analytics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PROPOSED SYSTEM — Three-Tier Architecture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"/>
          <p:cNvSpPr/>
          <p:nvPr/>
        </p:nvSpPr>
        <p:spPr>
          <a:xfrm>
            <a:off x="274320" y="77724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a7a"/>
                </a:solidFill>
                <a:latin typeface="Calibri"/>
              </a:rPr>
              <a:t>A robust three-tier architecture ensures scalability, security, and real-time performance.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5"/>
          <p:cNvSpPr/>
          <p:nvPr/>
        </p:nvSpPr>
        <p:spPr>
          <a:xfrm>
            <a:off x="274320" y="1261800"/>
            <a:ext cx="283392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6"/>
          <p:cNvSpPr/>
          <p:nvPr/>
        </p:nvSpPr>
        <p:spPr>
          <a:xfrm>
            <a:off x="274320" y="1261800"/>
            <a:ext cx="2833920" cy="34668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7"/>
          <p:cNvSpPr/>
          <p:nvPr/>
        </p:nvSpPr>
        <p:spPr>
          <a:xfrm>
            <a:off x="274320" y="126180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PRESENTATION TIER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8"/>
          <p:cNvSpPr/>
          <p:nvPr/>
        </p:nvSpPr>
        <p:spPr>
          <a:xfrm>
            <a:off x="384120" y="1719000"/>
            <a:ext cx="260532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Python Gesture Client (webcam &amp; landmarks)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Web Dashboard (HTML / CSS / JavaScript)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Real-time gesture visualization overlay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9"/>
          <p:cNvSpPr/>
          <p:nvPr/>
        </p:nvSpPr>
        <p:spPr>
          <a:xfrm>
            <a:off x="3227760" y="1261800"/>
            <a:ext cx="283392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0"/>
          <p:cNvSpPr/>
          <p:nvPr/>
        </p:nvSpPr>
        <p:spPr>
          <a:xfrm>
            <a:off x="3227760" y="1261800"/>
            <a:ext cx="2833920" cy="346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1"/>
          <p:cNvSpPr/>
          <p:nvPr/>
        </p:nvSpPr>
        <p:spPr>
          <a:xfrm>
            <a:off x="3227760" y="126180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APPLICATION TIER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2"/>
          <p:cNvSpPr/>
          <p:nvPr/>
        </p:nvSpPr>
        <p:spPr>
          <a:xfrm>
            <a:off x="3337560" y="1719000"/>
            <a:ext cx="260532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Flask + Socket.IO server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JWT + bcrypt authentication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Device management &amp; REST APIs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WebSocket event handling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3"/>
          <p:cNvSpPr/>
          <p:nvPr/>
        </p:nvSpPr>
        <p:spPr>
          <a:xfrm>
            <a:off x="6181200" y="1261800"/>
            <a:ext cx="2833920" cy="233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4"/>
          <p:cNvSpPr/>
          <p:nvPr/>
        </p:nvSpPr>
        <p:spPr>
          <a:xfrm>
            <a:off x="6181200" y="1261800"/>
            <a:ext cx="2833920" cy="34668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6181200" y="1261800"/>
            <a:ext cx="28339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DATA TIER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6291000" y="1719000"/>
            <a:ext cx="2605320" cy="178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MongoDB — Users, Devices, Sessions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Gesture Logs &amp; Scores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SQLite (local), MongoDB (cloud)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7"/>
          <p:cNvSpPr/>
          <p:nvPr/>
        </p:nvSpPr>
        <p:spPr>
          <a:xfrm>
            <a:off x="274320" y="3730680"/>
            <a:ext cx="8594640" cy="29196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8"/>
          <p:cNvSpPr/>
          <p:nvPr/>
        </p:nvSpPr>
        <p:spPr>
          <a:xfrm>
            <a:off x="274320" y="3730680"/>
            <a:ext cx="85946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KEY INNOVATIONS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9"/>
          <p:cNvSpPr/>
          <p:nvPr/>
        </p:nvSpPr>
        <p:spPr>
          <a:xfrm>
            <a:off x="274320" y="4023360"/>
            <a:ext cx="4159800" cy="38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365760" y="4023360"/>
            <a:ext cx="2010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Weighted Moving Average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21"/>
          <p:cNvSpPr/>
          <p:nvPr/>
        </p:nvSpPr>
        <p:spPr>
          <a:xfrm>
            <a:off x="2423160" y="402336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65% jitter reduction, &lt;50ms latency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2"/>
          <p:cNvSpPr/>
          <p:nvPr/>
        </p:nvSpPr>
        <p:spPr>
          <a:xfrm>
            <a:off x="4663440" y="4023360"/>
            <a:ext cx="4159800" cy="38340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4754880" y="4023360"/>
            <a:ext cx="2010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Dual-mode Recognition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4"/>
          <p:cNvSpPr/>
          <p:nvPr/>
        </p:nvSpPr>
        <p:spPr>
          <a:xfrm>
            <a:off x="6812280" y="402336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CNN + template matching (Air Keyboard)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5"/>
          <p:cNvSpPr/>
          <p:nvPr/>
        </p:nvSpPr>
        <p:spPr>
          <a:xfrm>
            <a:off x="274320" y="4462200"/>
            <a:ext cx="4159800" cy="38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365760" y="4462200"/>
            <a:ext cx="2010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Gesture-based Games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27"/>
          <p:cNvSpPr/>
          <p:nvPr/>
        </p:nvSpPr>
        <p:spPr>
          <a:xfrm>
            <a:off x="2423160" y="446220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Full gesture integration (Flappy, Piano, etc.)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8"/>
          <p:cNvSpPr/>
          <p:nvPr/>
        </p:nvSpPr>
        <p:spPr>
          <a:xfrm>
            <a:off x="4663440" y="4462200"/>
            <a:ext cx="4159800" cy="383400"/>
          </a:xfrm>
          <a:prstGeom prst="rect">
            <a:avLst/>
          </a:prstGeom>
          <a:solidFill>
            <a:srgbClr val="f0f5fa"/>
          </a:solidFill>
          <a:ln w="12700">
            <a:solidFill>
              <a:srgbClr val="d8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9"/>
          <p:cNvSpPr/>
          <p:nvPr/>
        </p:nvSpPr>
        <p:spPr>
          <a:xfrm>
            <a:off x="4754880" y="4462200"/>
            <a:ext cx="2010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Accessibility Layer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0"/>
          <p:cNvSpPr/>
          <p:nvPr/>
        </p:nvSpPr>
        <p:spPr>
          <a:xfrm>
            <a:off x="6812280" y="4462200"/>
            <a:ext cx="19195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Voice (Speech Synthesis) + Haptic (Vibration API)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WORKFLOW PIPELINE — Real-Time Processing Flow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274320" y="777240"/>
            <a:ext cx="8594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a7a"/>
                </a:solidFill>
                <a:latin typeface="Calibri"/>
              </a:rPr>
              <a:t>End-to-end gesture recognition pipeline — processes each frame in under 33ms for real-time interaction.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274320" y="128016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6"/>
          <p:cNvSpPr/>
          <p:nvPr/>
        </p:nvSpPr>
        <p:spPr>
          <a:xfrm>
            <a:off x="274320" y="1280160"/>
            <a:ext cx="2742480" cy="474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274320" y="128016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777240" y="128016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Webcam Input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384120" y="182880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Real-time video capture at 30+ FPS via OpenCV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3063240" y="1847160"/>
            <a:ext cx="136440" cy="319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1"/>
          <p:cNvSpPr/>
          <p:nvPr/>
        </p:nvSpPr>
        <p:spPr>
          <a:xfrm>
            <a:off x="3227760" y="128016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2"/>
          <p:cNvSpPr/>
          <p:nvPr/>
        </p:nvSpPr>
        <p:spPr>
          <a:xfrm>
            <a:off x="3227760" y="1280160"/>
            <a:ext cx="2742480" cy="474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3227760" y="128016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3730680" y="128016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MediaPipe Detection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3337560" y="182880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Hand detection and bounding box calculation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6016680" y="1847160"/>
            <a:ext cx="136440" cy="319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6181200" y="128016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8"/>
          <p:cNvSpPr/>
          <p:nvPr/>
        </p:nvSpPr>
        <p:spPr>
          <a:xfrm>
            <a:off x="6181200" y="1280160"/>
            <a:ext cx="2742480" cy="474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181200" y="128016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684120" y="128016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Landmark Extraction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6291000" y="182880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21 hand landmarks extracted per frame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274320" y="297180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274320" y="2971800"/>
            <a:ext cx="2742480" cy="4748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274320" y="29718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777240" y="297180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Gesture Classification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384120" y="352044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Rule-based decision tree analyzes finger states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3063240" y="3538800"/>
            <a:ext cx="136440" cy="319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8"/>
          <p:cNvSpPr/>
          <p:nvPr/>
        </p:nvSpPr>
        <p:spPr>
          <a:xfrm>
            <a:off x="3227760" y="297180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9"/>
          <p:cNvSpPr/>
          <p:nvPr/>
        </p:nvSpPr>
        <p:spPr>
          <a:xfrm>
            <a:off x="3227760" y="2971800"/>
            <a:ext cx="2742480" cy="4748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3227760" y="29718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3730680" y="297180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Action Execution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3337560" y="352044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PyAutoGUI executes mapped system commands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33"/>
          <p:cNvSpPr/>
          <p:nvPr/>
        </p:nvSpPr>
        <p:spPr>
          <a:xfrm>
            <a:off x="6016680" y="3538800"/>
            <a:ext cx="136440" cy="3193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4"/>
          <p:cNvSpPr/>
          <p:nvPr/>
        </p:nvSpPr>
        <p:spPr>
          <a:xfrm>
            <a:off x="6181200" y="2971800"/>
            <a:ext cx="2742480" cy="146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5"/>
          <p:cNvSpPr/>
          <p:nvPr/>
        </p:nvSpPr>
        <p:spPr>
          <a:xfrm>
            <a:off x="6181200" y="2971800"/>
            <a:ext cx="2742480" cy="47484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36"/>
          <p:cNvSpPr/>
          <p:nvPr/>
        </p:nvSpPr>
        <p:spPr>
          <a:xfrm>
            <a:off x="6181200" y="29718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6684120" y="2971800"/>
            <a:ext cx="21481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WebSocket Sync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38"/>
          <p:cNvSpPr/>
          <p:nvPr/>
        </p:nvSpPr>
        <p:spPr>
          <a:xfrm>
            <a:off x="6291000" y="3520440"/>
            <a:ext cx="2522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Dashboard updates via Socket.IO in real-time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TECHNOLOGY STACK — Complete Implementation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274320" y="80460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5"/>
          <p:cNvSpPr/>
          <p:nvPr/>
        </p:nvSpPr>
        <p:spPr>
          <a:xfrm>
            <a:off x="274320" y="804600"/>
            <a:ext cx="72360" cy="776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438840" y="87768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Computer Vision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7"/>
          <p:cNvSpPr/>
          <p:nvPr/>
        </p:nvSpPr>
        <p:spPr>
          <a:xfrm>
            <a:off x="438840" y="117036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</a:rPr>
              <a:t>OpenCV + MediaPipe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8"/>
          <p:cNvSpPr/>
          <p:nvPr/>
        </p:nvSpPr>
        <p:spPr>
          <a:xfrm>
            <a:off x="4663440" y="80460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9"/>
          <p:cNvSpPr/>
          <p:nvPr/>
        </p:nvSpPr>
        <p:spPr>
          <a:xfrm>
            <a:off x="4663440" y="804600"/>
            <a:ext cx="72360" cy="7765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0"/>
          <p:cNvSpPr/>
          <p:nvPr/>
        </p:nvSpPr>
        <p:spPr>
          <a:xfrm>
            <a:off x="4827960" y="87768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Backend Server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11"/>
          <p:cNvSpPr/>
          <p:nvPr/>
        </p:nvSpPr>
        <p:spPr>
          <a:xfrm>
            <a:off x="4827960" y="117036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527a0"/>
                </a:solidFill>
                <a:latin typeface="Calibri"/>
              </a:rPr>
              <a:t>Flask + Socket.IO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2"/>
          <p:cNvSpPr/>
          <p:nvPr/>
        </p:nvSpPr>
        <p:spPr>
          <a:xfrm>
            <a:off x="274320" y="176472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3"/>
          <p:cNvSpPr/>
          <p:nvPr/>
        </p:nvSpPr>
        <p:spPr>
          <a:xfrm>
            <a:off x="274320" y="1764720"/>
            <a:ext cx="72360" cy="7765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4"/>
          <p:cNvSpPr/>
          <p:nvPr/>
        </p:nvSpPr>
        <p:spPr>
          <a:xfrm>
            <a:off x="438840" y="183780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Frontend Dashboard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5"/>
          <p:cNvSpPr/>
          <p:nvPr/>
        </p:nvSpPr>
        <p:spPr>
          <a:xfrm>
            <a:off x="438840" y="213048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695c"/>
                </a:solidFill>
                <a:latin typeface="Calibri"/>
              </a:rPr>
              <a:t>HTML + Tailwind CSS + JavaScript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6"/>
          <p:cNvSpPr/>
          <p:nvPr/>
        </p:nvSpPr>
        <p:spPr>
          <a:xfrm>
            <a:off x="4663440" y="176472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7"/>
          <p:cNvSpPr/>
          <p:nvPr/>
        </p:nvSpPr>
        <p:spPr>
          <a:xfrm>
            <a:off x="4663440" y="1764720"/>
            <a:ext cx="72360" cy="776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8"/>
          <p:cNvSpPr/>
          <p:nvPr/>
        </p:nvSpPr>
        <p:spPr>
          <a:xfrm>
            <a:off x="4827960" y="183780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Database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9"/>
          <p:cNvSpPr/>
          <p:nvPr/>
        </p:nvSpPr>
        <p:spPr>
          <a:xfrm>
            <a:off x="4827960" y="213048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5100"/>
                </a:solidFill>
                <a:latin typeface="Calibri"/>
              </a:rPr>
              <a:t>MongoDB (cloud) + SQLite (local)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0"/>
          <p:cNvSpPr/>
          <p:nvPr/>
        </p:nvSpPr>
        <p:spPr>
          <a:xfrm>
            <a:off x="274320" y="272484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1"/>
          <p:cNvSpPr/>
          <p:nvPr/>
        </p:nvSpPr>
        <p:spPr>
          <a:xfrm>
            <a:off x="274320" y="2724840"/>
            <a:ext cx="72360" cy="7765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22"/>
          <p:cNvSpPr/>
          <p:nvPr/>
        </p:nvSpPr>
        <p:spPr>
          <a:xfrm>
            <a:off x="438840" y="279792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System Automation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3"/>
          <p:cNvSpPr/>
          <p:nvPr/>
        </p:nvSpPr>
        <p:spPr>
          <a:xfrm>
            <a:off x="438840" y="309060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d1457"/>
                </a:solidFill>
                <a:latin typeface="Calibri"/>
              </a:rPr>
              <a:t>PyAutoGUI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4"/>
          <p:cNvSpPr/>
          <p:nvPr/>
        </p:nvSpPr>
        <p:spPr>
          <a:xfrm>
            <a:off x="4663440" y="2724840"/>
            <a:ext cx="415980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5"/>
          <p:cNvSpPr/>
          <p:nvPr/>
        </p:nvSpPr>
        <p:spPr>
          <a:xfrm>
            <a:off x="4663440" y="2724840"/>
            <a:ext cx="72360" cy="7765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26"/>
          <p:cNvSpPr/>
          <p:nvPr/>
        </p:nvSpPr>
        <p:spPr>
          <a:xfrm>
            <a:off x="4827960" y="2797920"/>
            <a:ext cx="390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Communication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7"/>
          <p:cNvSpPr/>
          <p:nvPr/>
        </p:nvSpPr>
        <p:spPr>
          <a:xfrm>
            <a:off x="4827960" y="3090600"/>
            <a:ext cx="390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796b"/>
                </a:solidFill>
                <a:latin typeface="Calibri"/>
              </a:rPr>
              <a:t>WebSocket Protocol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8"/>
          <p:cNvSpPr/>
          <p:nvPr/>
        </p:nvSpPr>
        <p:spPr>
          <a:xfrm>
            <a:off x="274320" y="3684960"/>
            <a:ext cx="8594640" cy="77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9"/>
          <p:cNvSpPr/>
          <p:nvPr/>
        </p:nvSpPr>
        <p:spPr>
          <a:xfrm>
            <a:off x="274320" y="3684960"/>
            <a:ext cx="72360" cy="77652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30"/>
          <p:cNvSpPr/>
          <p:nvPr/>
        </p:nvSpPr>
        <p:spPr>
          <a:xfrm>
            <a:off x="438840" y="3758040"/>
            <a:ext cx="8338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5a6a7a"/>
                </a:solidFill>
                <a:latin typeface="Calibri"/>
              </a:rPr>
              <a:t>Programming Language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31"/>
          <p:cNvSpPr/>
          <p:nvPr/>
        </p:nvSpPr>
        <p:spPr>
          <a:xfrm>
            <a:off x="438840" y="4050720"/>
            <a:ext cx="833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558b2f"/>
                </a:solidFill>
                <a:latin typeface="Calibri"/>
              </a:rPr>
              <a:t>Python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2"/>
          <p:cNvSpPr/>
          <p:nvPr/>
        </p:nvSpPr>
        <p:spPr>
          <a:xfrm>
            <a:off x="274320" y="4846320"/>
            <a:ext cx="859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a6a7a"/>
                </a:solidFill>
                <a:latin typeface="Calibri"/>
              </a:rPr>
              <a:t>Stack selected for reliability, performance, and open-source availability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IMPLEMENTATION — Core Gesture Control (Features 1–2)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4"/>
          <p:cNvSpPr/>
          <p:nvPr/>
        </p:nvSpPr>
        <p:spPr>
          <a:xfrm>
            <a:off x="274320" y="777240"/>
            <a:ext cx="5302800" cy="319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274320" y="77724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1: Core Gesture Recognition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31" name="Table 0"/>
          <p:cNvGraphicFramePr/>
          <p:nvPr/>
        </p:nvGraphicFramePr>
        <p:xfrm>
          <a:off x="274320" y="1115640"/>
          <a:ext cx="5303160" cy="304236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05840"/>
                <a:gridCol w="1463040"/>
              </a:tblGrid>
              <a:tr h="3380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Gesture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POINT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Move cursor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92%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&lt;45ms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PINCH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Left click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95%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&lt;40ms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PEACE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Right click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87%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&lt;45ms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THREE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Scroll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82%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&lt;50ms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ZOOM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Zoom In/Out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90%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&lt;50ms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FIST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Disable control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91%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&lt;40ms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PALM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Enable control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88%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&lt;40ms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PALM_HOLD (4s)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Screenshot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85%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2" name="Shape 6"/>
          <p:cNvSpPr/>
          <p:nvPr/>
        </p:nvSpPr>
        <p:spPr>
          <a:xfrm>
            <a:off x="5760720" y="777240"/>
            <a:ext cx="3108240" cy="3931200"/>
          </a:xfrm>
          <a:prstGeom prst="rect">
            <a:avLst/>
          </a:prstGeom>
          <a:solidFill>
            <a:srgbClr val="f0f8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7"/>
          <p:cNvSpPr/>
          <p:nvPr/>
        </p:nvSpPr>
        <p:spPr>
          <a:xfrm>
            <a:off x="5760720" y="777240"/>
            <a:ext cx="3108240" cy="319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5760720" y="7772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2: Cursor Smoothing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9"/>
          <p:cNvSpPr/>
          <p:nvPr/>
        </p:nvSpPr>
        <p:spPr>
          <a:xfrm>
            <a:off x="5897880" y="123444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Input: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0"/>
          <p:cNvSpPr/>
          <p:nvPr/>
        </p:nvSpPr>
        <p:spPr>
          <a:xfrm>
            <a:off x="6931080" y="123444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Raw cursor positions (x, y)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5897880" y="171000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Process: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2"/>
          <p:cNvSpPr/>
          <p:nvPr/>
        </p:nvSpPr>
        <p:spPr>
          <a:xfrm>
            <a:off x="6931080" y="171000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Weighted Moving Average (window = 5)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5897880" y="21855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Output: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6931080" y="218556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Smoothed cursor position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5897880" y="26607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565c0"/>
                </a:solidFill>
                <a:latin typeface="Calibri"/>
              </a:rPr>
              <a:t>Jitter Reduction: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6"/>
          <p:cNvSpPr/>
          <p:nvPr/>
        </p:nvSpPr>
        <p:spPr>
          <a:xfrm>
            <a:off x="6931080" y="2660760"/>
            <a:ext cx="1782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65% improvement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7"/>
          <p:cNvSpPr/>
          <p:nvPr/>
        </p:nvSpPr>
        <p:spPr>
          <a:xfrm>
            <a:off x="5897880" y="3429000"/>
            <a:ext cx="2788200" cy="10508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8"/>
          <p:cNvSpPr/>
          <p:nvPr/>
        </p:nvSpPr>
        <p:spPr>
          <a:xfrm>
            <a:off x="6035040" y="349308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WMA Formula: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9"/>
          <p:cNvSpPr/>
          <p:nvPr/>
        </p:nvSpPr>
        <p:spPr>
          <a:xfrm>
            <a:off x="6035040" y="376740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a1b3d"/>
                </a:solidFill>
                <a:latin typeface="Calibri"/>
              </a:rPr>
              <a:t>Σ(wᵢ × posᵢ) / Σ(wᵢ)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20"/>
          <p:cNvSpPr/>
          <p:nvPr/>
        </p:nvSpPr>
        <p:spPr>
          <a:xfrm>
            <a:off x="6035040" y="41148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a6a7a"/>
                </a:solidFill>
                <a:latin typeface="Calibri"/>
              </a:rPr>
              <a:t>where weights decay with age of sample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IMPLEMENTATION — Air Canvas &amp; Air Keyboard (Features 3–4)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4"/>
          <p:cNvSpPr/>
          <p:nvPr/>
        </p:nvSpPr>
        <p:spPr>
          <a:xfrm>
            <a:off x="274320" y="777240"/>
            <a:ext cx="4159800" cy="402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5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3: Air Canvas — Touchless Drawing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4" name="Table 0"/>
          <p:cNvGraphicFramePr/>
          <p:nvPr/>
        </p:nvGraphicFramePr>
        <p:xfrm>
          <a:off x="365760" y="1170360"/>
          <a:ext cx="384012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73736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Finger</a:t>
                      </a:r>
                      <a:endParaRPr b="0" lang="en-IN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Color</a:t>
                      </a:r>
                      <a:endParaRPr b="0" lang="en-IN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  <a:endParaRPr b="0" lang="en-IN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c62828"/>
                          </a:solidFill>
                          <a:latin typeface="Calibri"/>
                        </a:rPr>
                        <a:t>Index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c62828"/>
                          </a:solidFill>
                          <a:latin typeface="Calibri"/>
                        </a:rPr>
                        <a:t>Red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Primary drawing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Middle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Blue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Secondary drawing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Ring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Green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Highlight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9a825"/>
                          </a:solidFill>
                          <a:latin typeface="Calibri"/>
                        </a:rPr>
                        <a:t>Pinky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f9a825"/>
                          </a:solidFill>
                          <a:latin typeface="Calibri"/>
                        </a:rPr>
                        <a:t>Yellow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Fine details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6a1b9a"/>
                          </a:solidFill>
                          <a:latin typeface="Calibri"/>
                        </a:rPr>
                        <a:t>Thumb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6a1b9a"/>
                          </a:solidFill>
                          <a:latin typeface="Calibri"/>
                        </a:rPr>
                        <a:t>Purple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Erase</a:t>
                      </a:r>
                      <a:endParaRPr b="0" lang="en-IN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8e4ec"/>
                      </a:solidFill>
                      <a:prstDash val="solid"/>
                    </a:lnL>
                    <a:lnR w="12240">
                      <a:solidFill>
                        <a:srgbClr val="d8e4ec"/>
                      </a:solidFill>
                      <a:prstDash val="solid"/>
                    </a:lnR>
                    <a:lnT w="12240">
                      <a:solidFill>
                        <a:srgbClr val="d8e4ec"/>
                      </a:solidFill>
                      <a:prstDash val="solid"/>
                    </a:lnT>
                    <a:lnB w="12240">
                      <a:solidFill>
                        <a:srgbClr val="d8e4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5" name="Text 7"/>
          <p:cNvSpPr/>
          <p:nvPr/>
        </p:nvSpPr>
        <p:spPr>
          <a:xfrm>
            <a:off x="365760" y="320040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Additional capabilities: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365760" y="3493080"/>
            <a:ext cx="3839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Adjustable brush size and color palette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Trajectory smoothing using WMA algorithm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Clear canvas gesture (FIST hold)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4663440" y="777240"/>
            <a:ext cx="4205520" cy="402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0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4: Air Keyboard — Gesture Typing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4800600" y="1170360"/>
            <a:ext cx="3839760" cy="3834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3"/>
          <p:cNvSpPr/>
          <p:nvPr/>
        </p:nvSpPr>
        <p:spPr>
          <a:xfrm>
            <a:off x="4892040" y="117036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27a0"/>
                </a:solidFill>
                <a:latin typeface="Calibri"/>
              </a:rPr>
              <a:t>1.  Stroke Capture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4800600" y="1673280"/>
            <a:ext cx="3839760" cy="3834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5"/>
          <p:cNvSpPr/>
          <p:nvPr/>
        </p:nvSpPr>
        <p:spPr>
          <a:xfrm>
            <a:off x="4892040" y="167328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27a0"/>
                </a:solidFill>
                <a:latin typeface="Calibri"/>
              </a:rPr>
              <a:t>2.  Normalize (64×64)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4800600" y="2176200"/>
            <a:ext cx="3839760" cy="3834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4892040" y="217620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27a0"/>
                </a:solidFill>
                <a:latin typeface="Calibri"/>
              </a:rPr>
              <a:t>3.  Skeletonize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8"/>
          <p:cNvSpPr/>
          <p:nvPr/>
        </p:nvSpPr>
        <p:spPr>
          <a:xfrm>
            <a:off x="4800600" y="2679120"/>
            <a:ext cx="3839760" cy="3834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4892040" y="267912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527a0"/>
                </a:solidFill>
                <a:latin typeface="Calibri"/>
              </a:rPr>
              <a:t>4.  Template Matching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4800600" y="3182040"/>
            <a:ext cx="3839760" cy="3834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4892040" y="3182040"/>
            <a:ext cx="3656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527a0"/>
                </a:solidFill>
                <a:latin typeface="Calibri"/>
              </a:rPr>
              <a:t>5.  Word Prediction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4800600" y="3703320"/>
            <a:ext cx="3839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</a:rPr>
              <a:t>Special gestures: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3"/>
          <p:cNvSpPr/>
          <p:nvPr/>
        </p:nvSpPr>
        <p:spPr>
          <a:xfrm>
            <a:off x="4800600" y="4005000"/>
            <a:ext cx="3839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Swipe Right → Space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Swipe Left → Backspace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Swipe Down → New Line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IMPLEMENTATION — Web Dashboard &amp; Gesture Games (Features 5–6)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4"/>
          <p:cNvSpPr/>
          <p:nvPr/>
        </p:nvSpPr>
        <p:spPr>
          <a:xfrm>
            <a:off x="274320" y="777240"/>
            <a:ext cx="4159800" cy="397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5: Web Dashboard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9" name="Table 0"/>
          <p:cNvGraphicFramePr/>
          <p:nvPr/>
        </p:nvGraphicFramePr>
        <p:xfrm>
          <a:off x="365760" y="1170360"/>
          <a:ext cx="3840120" cy="3291840"/>
        </p:xfrm>
        <a:graphic>
          <a:graphicData uri="http://schemas.openxmlformats.org/drawingml/2006/table">
            <a:tbl>
              <a:tblPr/>
              <a:tblGrid>
                <a:gridCol w="1417320"/>
                <a:gridCol w="242316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Functionality</a:t>
                      </a:r>
                      <a:endParaRPr b="0" lang="en-IN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Active Tracking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Real-time gesture display + confidence meter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Analytics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Gesture count, accuracy, session timer, speed rating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Device Management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Register, edit, delete devices (online/offline status)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User Profile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Customizable preferences (hand, sensitivity, theme)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Data Export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CSV/JSON export, session recording &amp; replay</a:t>
                      </a:r>
                      <a:endParaRPr b="0" lang="en-IN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0" name="Shape 7"/>
          <p:cNvSpPr/>
          <p:nvPr/>
        </p:nvSpPr>
        <p:spPr>
          <a:xfrm>
            <a:off x="4663440" y="777240"/>
            <a:ext cx="4205520" cy="397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8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6: Gesture-Controlled Games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4800600" y="1170360"/>
            <a:ext cx="3839760" cy="657720"/>
          </a:xfrm>
          <a:prstGeom prst="rect">
            <a:avLst/>
          </a:prstGeom>
          <a:solidFill>
            <a:srgbClr val="f9fbe7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4800600" y="1170360"/>
            <a:ext cx="72360" cy="6577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2"/>
          <p:cNvSpPr/>
          <p:nvPr/>
        </p:nvSpPr>
        <p:spPr>
          <a:xfrm>
            <a:off x="4956120" y="120708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7f17"/>
                </a:solidFill>
                <a:latin typeface="Calibri"/>
              </a:rPr>
              <a:t>Flappy Pulse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4956120" y="1481400"/>
            <a:ext cx="2285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PINCH to flap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4"/>
          <p:cNvSpPr/>
          <p:nvPr/>
        </p:nvSpPr>
        <p:spPr>
          <a:xfrm>
            <a:off x="7287840" y="1261800"/>
            <a:ext cx="1233720" cy="2919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15"/>
          <p:cNvSpPr/>
          <p:nvPr/>
        </p:nvSpPr>
        <p:spPr>
          <a:xfrm>
            <a:off x="7287840" y="1261800"/>
            <a:ext cx="1233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Easy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6"/>
          <p:cNvSpPr/>
          <p:nvPr/>
        </p:nvSpPr>
        <p:spPr>
          <a:xfrm>
            <a:off x="4800600" y="1947600"/>
            <a:ext cx="3839760" cy="657720"/>
          </a:xfrm>
          <a:prstGeom prst="rect">
            <a:avLst/>
          </a:prstGeom>
          <a:solidFill>
            <a:srgbClr val="f9fbe7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7"/>
          <p:cNvSpPr/>
          <p:nvPr/>
        </p:nvSpPr>
        <p:spPr>
          <a:xfrm>
            <a:off x="4800600" y="1947600"/>
            <a:ext cx="72360" cy="657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18"/>
          <p:cNvSpPr/>
          <p:nvPr/>
        </p:nvSpPr>
        <p:spPr>
          <a:xfrm>
            <a:off x="4956120" y="198432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Gesture Piano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9"/>
          <p:cNvSpPr/>
          <p:nvPr/>
        </p:nvSpPr>
        <p:spPr>
          <a:xfrm>
            <a:off x="4956120" y="2258640"/>
            <a:ext cx="2285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Point + PINCH to play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20"/>
          <p:cNvSpPr/>
          <p:nvPr/>
        </p:nvSpPr>
        <p:spPr>
          <a:xfrm>
            <a:off x="7287840" y="2039040"/>
            <a:ext cx="1233720" cy="291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1"/>
          <p:cNvSpPr/>
          <p:nvPr/>
        </p:nvSpPr>
        <p:spPr>
          <a:xfrm>
            <a:off x="7287840" y="2039040"/>
            <a:ext cx="1233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Medium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22"/>
          <p:cNvSpPr/>
          <p:nvPr/>
        </p:nvSpPr>
        <p:spPr>
          <a:xfrm>
            <a:off x="4800600" y="2724840"/>
            <a:ext cx="3839760" cy="657720"/>
          </a:xfrm>
          <a:prstGeom prst="rect">
            <a:avLst/>
          </a:prstGeom>
          <a:solidFill>
            <a:srgbClr val="f9fbe7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3"/>
          <p:cNvSpPr/>
          <p:nvPr/>
        </p:nvSpPr>
        <p:spPr>
          <a:xfrm>
            <a:off x="4800600" y="2724840"/>
            <a:ext cx="72360" cy="657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24"/>
          <p:cNvSpPr/>
          <p:nvPr/>
        </p:nvSpPr>
        <p:spPr>
          <a:xfrm>
            <a:off x="4956120" y="276156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Dino Runner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25"/>
          <p:cNvSpPr/>
          <p:nvPr/>
        </p:nvSpPr>
        <p:spPr>
          <a:xfrm>
            <a:off x="4956120" y="3035880"/>
            <a:ext cx="2285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OPEN PALM to jump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26"/>
          <p:cNvSpPr/>
          <p:nvPr/>
        </p:nvSpPr>
        <p:spPr>
          <a:xfrm>
            <a:off x="7287840" y="2816280"/>
            <a:ext cx="1233720" cy="291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27"/>
          <p:cNvSpPr/>
          <p:nvPr/>
        </p:nvSpPr>
        <p:spPr>
          <a:xfrm>
            <a:off x="7287840" y="2816280"/>
            <a:ext cx="1233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Easy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28"/>
          <p:cNvSpPr/>
          <p:nvPr/>
        </p:nvSpPr>
        <p:spPr>
          <a:xfrm>
            <a:off x="4800600" y="3502080"/>
            <a:ext cx="3839760" cy="657720"/>
          </a:xfrm>
          <a:prstGeom prst="rect">
            <a:avLst/>
          </a:prstGeom>
          <a:solidFill>
            <a:srgbClr val="f9fbe7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29"/>
          <p:cNvSpPr/>
          <p:nvPr/>
        </p:nvSpPr>
        <p:spPr>
          <a:xfrm>
            <a:off x="4800600" y="3502080"/>
            <a:ext cx="72360" cy="657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30"/>
          <p:cNvSpPr/>
          <p:nvPr/>
        </p:nvSpPr>
        <p:spPr>
          <a:xfrm>
            <a:off x="4956120" y="353880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b71c1c"/>
                </a:solidFill>
                <a:latin typeface="Calibri"/>
              </a:rPr>
              <a:t>Space Shooter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31"/>
          <p:cNvSpPr/>
          <p:nvPr/>
        </p:nvSpPr>
        <p:spPr>
          <a:xfrm>
            <a:off x="4956120" y="3813120"/>
            <a:ext cx="2285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Point to aim, PINCH to shoot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32"/>
          <p:cNvSpPr/>
          <p:nvPr/>
        </p:nvSpPr>
        <p:spPr>
          <a:xfrm>
            <a:off x="7287840" y="3593520"/>
            <a:ext cx="1233720" cy="291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33"/>
          <p:cNvSpPr/>
          <p:nvPr/>
        </p:nvSpPr>
        <p:spPr>
          <a:xfrm>
            <a:off x="7287840" y="3593520"/>
            <a:ext cx="1233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Hard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IMPLEMENTATION — UX Enhancements &amp; Controllers (Features 7–8)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274320" y="777240"/>
            <a:ext cx="4159800" cy="397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6"/>
          <p:cNvSpPr/>
          <p:nvPr/>
        </p:nvSpPr>
        <p:spPr>
          <a:xfrm>
            <a:off x="274320" y="777240"/>
            <a:ext cx="4159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7: Multi-Modal UX Feedback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384120" y="1207080"/>
            <a:ext cx="3839760" cy="657720"/>
          </a:xfrm>
          <a:prstGeom prst="rect">
            <a:avLst/>
          </a:prstGeom>
          <a:solidFill>
            <a:srgbClr val="fce4ec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502920" y="1261800"/>
            <a:ext cx="730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d1457"/>
                </a:solidFill>
                <a:latin typeface="Calibri"/>
              </a:rPr>
              <a:t>Sound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9"/>
          <p:cNvSpPr/>
          <p:nvPr/>
        </p:nvSpPr>
        <p:spPr>
          <a:xfrm>
            <a:off x="502920" y="153612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Web Audio API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0"/>
          <p:cNvSpPr/>
          <p:nvPr/>
        </p:nvSpPr>
        <p:spPr>
          <a:xfrm>
            <a:off x="1828800" y="126180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Auditory confirmation of gestures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384120" y="2011680"/>
            <a:ext cx="3839760" cy="65772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502920" y="2066400"/>
            <a:ext cx="730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d1457"/>
                </a:solidFill>
                <a:latin typeface="Calibri"/>
              </a:rPr>
              <a:t>Voice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3"/>
          <p:cNvSpPr/>
          <p:nvPr/>
        </p:nvSpPr>
        <p:spPr>
          <a:xfrm>
            <a:off x="502920" y="234072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Speech Synthesis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4"/>
          <p:cNvSpPr/>
          <p:nvPr/>
        </p:nvSpPr>
        <p:spPr>
          <a:xfrm>
            <a:off x="1828800" y="206640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Accessibility for visually impaired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384120" y="2816280"/>
            <a:ext cx="3839760" cy="657720"/>
          </a:xfrm>
          <a:prstGeom prst="rect">
            <a:avLst/>
          </a:prstGeom>
          <a:solidFill>
            <a:srgbClr val="fce4ec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502920" y="2871360"/>
            <a:ext cx="730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d1457"/>
                </a:solidFill>
                <a:latin typeface="Calibri"/>
              </a:rPr>
              <a:t>Haptic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17"/>
          <p:cNvSpPr/>
          <p:nvPr/>
        </p:nvSpPr>
        <p:spPr>
          <a:xfrm>
            <a:off x="502920" y="314568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Vibration API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18"/>
          <p:cNvSpPr/>
          <p:nvPr/>
        </p:nvSpPr>
        <p:spPr>
          <a:xfrm>
            <a:off x="1828800" y="28713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Tactile feedback on mobile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9"/>
          <p:cNvSpPr/>
          <p:nvPr/>
        </p:nvSpPr>
        <p:spPr>
          <a:xfrm>
            <a:off x="384120" y="3620880"/>
            <a:ext cx="3839760" cy="65772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20"/>
          <p:cNvSpPr/>
          <p:nvPr/>
        </p:nvSpPr>
        <p:spPr>
          <a:xfrm>
            <a:off x="502920" y="3675960"/>
            <a:ext cx="730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d1457"/>
                </a:solidFill>
                <a:latin typeface="Calibri"/>
              </a:rPr>
              <a:t>Visual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21"/>
          <p:cNvSpPr/>
          <p:nvPr/>
        </p:nvSpPr>
        <p:spPr>
          <a:xfrm>
            <a:off x="502920" y="395028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Canvas Overlay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22"/>
          <p:cNvSpPr/>
          <p:nvPr/>
        </p:nvSpPr>
        <p:spPr>
          <a:xfrm>
            <a:off x="1828800" y="36759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Real-time gesture visualization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23"/>
          <p:cNvSpPr/>
          <p:nvPr/>
        </p:nvSpPr>
        <p:spPr>
          <a:xfrm>
            <a:off x="4663440" y="777240"/>
            <a:ext cx="4205520" cy="397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24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25"/>
          <p:cNvSpPr/>
          <p:nvPr/>
        </p:nvSpPr>
        <p:spPr>
          <a:xfrm>
            <a:off x="4663440" y="7772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FEATURE 8: Smart Home &amp; Presentation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26"/>
          <p:cNvSpPr/>
          <p:nvPr/>
        </p:nvSpPr>
        <p:spPr>
          <a:xfrm>
            <a:off x="4800600" y="120708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6064"/>
                </a:solidFill>
                <a:latin typeface="Calibri"/>
              </a:rPr>
              <a:t>Smart Home Gestures: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27"/>
          <p:cNvSpPr/>
          <p:nvPr/>
        </p:nvSpPr>
        <p:spPr>
          <a:xfrm>
            <a:off x="4800600" y="1517760"/>
            <a:ext cx="383976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POINT UP → Lights 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POINT DOWN → Lights OFF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PEACE → Fan 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FIST → Fan OFF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OPEN PALM (Wave) → Curtains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OPEN PALM (Hold 3s) → Emergency Mode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28"/>
          <p:cNvSpPr/>
          <p:nvPr/>
        </p:nvSpPr>
        <p:spPr>
          <a:xfrm>
            <a:off x="4800600" y="31089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565c0"/>
                </a:solidFill>
                <a:latin typeface="Calibri"/>
              </a:rPr>
              <a:t>Presentation Controller Gestures: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29"/>
          <p:cNvSpPr/>
          <p:nvPr/>
        </p:nvSpPr>
        <p:spPr>
          <a:xfrm>
            <a:off x="4800600" y="3429000"/>
            <a:ext cx="38397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POINT → Next Slide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PEACE → Previous Slide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PINCH IN/OUT → Zoom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1a1a2e"/>
              </a:buClr>
              <a:buFont typeface="Symbol"/>
              <a:buChar char=""/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OPEN PALM → Fullscreen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RESULT ANALYSIS — Accuracy Testing (100 tests per gesture)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4"/>
          <p:cNvSpPr/>
          <p:nvPr/>
        </p:nvSpPr>
        <p:spPr>
          <a:xfrm>
            <a:off x="274320" y="777240"/>
            <a:ext cx="1965240" cy="1142280"/>
          </a:xfrm>
          <a:prstGeom prst="rect">
            <a:avLst/>
          </a:prstGeom>
          <a:solidFill>
            <a:srgbClr val="f0f8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274320" y="868680"/>
            <a:ext cx="1965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565c0"/>
                </a:solidFill>
                <a:latin typeface="Calibri"/>
              </a:rPr>
              <a:t>92%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274320" y="135324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Best Accuracy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(POINT)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7"/>
          <p:cNvSpPr/>
          <p:nvPr/>
        </p:nvSpPr>
        <p:spPr>
          <a:xfrm>
            <a:off x="2450520" y="777240"/>
            <a:ext cx="1965240" cy="1142280"/>
          </a:xfrm>
          <a:prstGeom prst="rect">
            <a:avLst/>
          </a:prstGeom>
          <a:solidFill>
            <a:srgbClr val="f0f8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2450520" y="868680"/>
            <a:ext cx="1965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06064"/>
                </a:solidFill>
                <a:latin typeface="Calibri"/>
              </a:rPr>
              <a:t>87.4%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9"/>
          <p:cNvSpPr/>
          <p:nvPr/>
        </p:nvSpPr>
        <p:spPr>
          <a:xfrm>
            <a:off x="2450520" y="135324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Average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Accuracy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0"/>
          <p:cNvSpPr/>
          <p:nvPr/>
        </p:nvSpPr>
        <p:spPr>
          <a:xfrm>
            <a:off x="4626720" y="777240"/>
            <a:ext cx="1965240" cy="1142280"/>
          </a:xfrm>
          <a:prstGeom prst="rect">
            <a:avLst/>
          </a:prstGeom>
          <a:solidFill>
            <a:srgbClr val="f0f8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11"/>
          <p:cNvSpPr/>
          <p:nvPr/>
        </p:nvSpPr>
        <p:spPr>
          <a:xfrm>
            <a:off x="4626720" y="868680"/>
            <a:ext cx="1965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2e7d32"/>
                </a:solidFill>
                <a:latin typeface="Calibri"/>
              </a:rPr>
              <a:t>30+ FPS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4626720" y="135324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Frame Rate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Maintained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3"/>
          <p:cNvSpPr/>
          <p:nvPr/>
        </p:nvSpPr>
        <p:spPr>
          <a:xfrm>
            <a:off x="6803280" y="777240"/>
            <a:ext cx="1965240" cy="1142280"/>
          </a:xfrm>
          <a:prstGeom prst="rect">
            <a:avLst/>
          </a:prstGeom>
          <a:solidFill>
            <a:srgbClr val="f0f8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4"/>
          <p:cNvSpPr/>
          <p:nvPr/>
        </p:nvSpPr>
        <p:spPr>
          <a:xfrm>
            <a:off x="6803280" y="868680"/>
            <a:ext cx="1965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ad1457"/>
                </a:solidFill>
                <a:latin typeface="Calibri"/>
              </a:rPr>
              <a:t>&lt;50ms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5"/>
          <p:cNvSpPr/>
          <p:nvPr/>
        </p:nvSpPr>
        <p:spPr>
          <a:xfrm>
            <a:off x="6803280" y="135324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End-to-End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a6a7a"/>
                </a:solidFill>
                <a:latin typeface="Calibri"/>
              </a:rPr>
              <a:t>Latency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3" name="Table 0"/>
          <p:cNvGraphicFramePr/>
          <p:nvPr/>
        </p:nvGraphicFramePr>
        <p:xfrm>
          <a:off x="274320" y="2030040"/>
          <a:ext cx="512028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188720"/>
                <a:gridCol w="137160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Gesture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Failure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POINT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92%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PINCH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5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95%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PEACE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87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13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87%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THREE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e65100"/>
                          </a:solidFill>
                          <a:latin typeface="Calibri"/>
                        </a:rPr>
                        <a:t>82%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FIST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91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9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91%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PALM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88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12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565c0"/>
                          </a:solidFill>
                          <a:latin typeface="Calibri"/>
                        </a:rPr>
                        <a:t>88%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4" name="Shape 16"/>
          <p:cNvSpPr/>
          <p:nvPr/>
        </p:nvSpPr>
        <p:spPr>
          <a:xfrm>
            <a:off x="5577840" y="2030040"/>
            <a:ext cx="3291120" cy="2651040"/>
          </a:xfrm>
          <a:prstGeom prst="rect">
            <a:avLst/>
          </a:prstGeom>
          <a:solidFill>
            <a:srgbClr val="f0fff4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17"/>
          <p:cNvSpPr/>
          <p:nvPr/>
        </p:nvSpPr>
        <p:spPr>
          <a:xfrm>
            <a:off x="5577840" y="2030040"/>
            <a:ext cx="3291120" cy="319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8"/>
          <p:cNvSpPr/>
          <p:nvPr/>
        </p:nvSpPr>
        <p:spPr>
          <a:xfrm>
            <a:off x="5577840" y="2030040"/>
            <a:ext cx="3291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User Acceptance Testing (n=10)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9"/>
          <p:cNvSpPr/>
          <p:nvPr/>
        </p:nvSpPr>
        <p:spPr>
          <a:xfrm>
            <a:off x="5577840" y="2395800"/>
            <a:ext cx="3291120" cy="38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20"/>
          <p:cNvSpPr/>
          <p:nvPr/>
        </p:nvSpPr>
        <p:spPr>
          <a:xfrm>
            <a:off x="5669280" y="2395800"/>
            <a:ext cx="2102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Ease of Use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21"/>
          <p:cNvSpPr/>
          <p:nvPr/>
        </p:nvSpPr>
        <p:spPr>
          <a:xfrm>
            <a:off x="7818120" y="2395800"/>
            <a:ext cx="95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4.2 / 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2"/>
          <p:cNvSpPr/>
          <p:nvPr/>
        </p:nvSpPr>
        <p:spPr>
          <a:xfrm>
            <a:off x="5577840" y="2816280"/>
            <a:ext cx="3291120" cy="383400"/>
          </a:xfrm>
          <a:prstGeom prst="rect">
            <a:avLst/>
          </a:prstGeom>
          <a:solidFill>
            <a:srgbClr val="f0fff4"/>
          </a:solidFill>
          <a:ln w="12700">
            <a:solidFill>
              <a:srgbClr val="b2d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23"/>
          <p:cNvSpPr/>
          <p:nvPr/>
        </p:nvSpPr>
        <p:spPr>
          <a:xfrm>
            <a:off x="5669280" y="2816280"/>
            <a:ext cx="2102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Recognition Speed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24"/>
          <p:cNvSpPr/>
          <p:nvPr/>
        </p:nvSpPr>
        <p:spPr>
          <a:xfrm>
            <a:off x="7818120" y="2816280"/>
            <a:ext cx="95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4.5 / 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5"/>
          <p:cNvSpPr/>
          <p:nvPr/>
        </p:nvSpPr>
        <p:spPr>
          <a:xfrm>
            <a:off x="5577840" y="3237120"/>
            <a:ext cx="3291120" cy="38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26"/>
          <p:cNvSpPr/>
          <p:nvPr/>
        </p:nvSpPr>
        <p:spPr>
          <a:xfrm>
            <a:off x="5669280" y="3237120"/>
            <a:ext cx="2102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Accuracy Satisfaction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7"/>
          <p:cNvSpPr/>
          <p:nvPr/>
        </p:nvSpPr>
        <p:spPr>
          <a:xfrm>
            <a:off x="7818120" y="3237120"/>
            <a:ext cx="95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4.0 / 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8"/>
          <p:cNvSpPr/>
          <p:nvPr/>
        </p:nvSpPr>
        <p:spPr>
          <a:xfrm>
            <a:off x="5577840" y="3657600"/>
            <a:ext cx="3291120" cy="383400"/>
          </a:xfrm>
          <a:prstGeom prst="rect">
            <a:avLst/>
          </a:prstGeom>
          <a:solidFill>
            <a:srgbClr val="f0fff4"/>
          </a:solidFill>
          <a:ln w="12700">
            <a:solidFill>
              <a:srgbClr val="b2d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29"/>
          <p:cNvSpPr/>
          <p:nvPr/>
        </p:nvSpPr>
        <p:spPr>
          <a:xfrm>
            <a:off x="5669280" y="3657600"/>
            <a:ext cx="2102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Dashboard Clarity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30"/>
          <p:cNvSpPr/>
          <p:nvPr/>
        </p:nvSpPr>
        <p:spPr>
          <a:xfrm>
            <a:off x="7818120" y="3657600"/>
            <a:ext cx="95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4.8 / 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1"/>
          <p:cNvSpPr/>
          <p:nvPr/>
        </p:nvSpPr>
        <p:spPr>
          <a:xfrm>
            <a:off x="5577840" y="4078080"/>
            <a:ext cx="3291120" cy="38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32"/>
          <p:cNvSpPr/>
          <p:nvPr/>
        </p:nvSpPr>
        <p:spPr>
          <a:xfrm>
            <a:off x="5669280" y="4078080"/>
            <a:ext cx="2102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Overall Satisfaction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33"/>
          <p:cNvSpPr/>
          <p:nvPr/>
        </p:nvSpPr>
        <p:spPr>
          <a:xfrm>
            <a:off x="7818120" y="4078080"/>
            <a:ext cx="95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4.3 / 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34"/>
          <p:cNvSpPr/>
          <p:nvPr/>
        </p:nvSpPr>
        <p:spPr>
          <a:xfrm>
            <a:off x="274320" y="4846320"/>
            <a:ext cx="859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a6a7a"/>
                </a:solidFill>
                <a:latin typeface="Calibri"/>
              </a:rPr>
              <a:t>All gesture features exceeded the 80% accuracy threshold, validating the rule-based classification approach.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RESULT ANALYSIS — Performance Metrics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7" name="Table 0"/>
          <p:cNvGraphicFramePr/>
          <p:nvPr/>
        </p:nvGraphicFramePr>
        <p:xfrm>
          <a:off x="274320" y="777240"/>
          <a:ext cx="8595000" cy="371196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828800"/>
                <a:gridCol w="2011680"/>
              </a:tblGrid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IN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solidFill>
                      <a:srgbClr val="0a1b3d"/>
                    </a:solidFill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Gesture Recognition Latency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&lt;50ms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35–45ms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WebSocket Propagation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&lt;20ms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10–15ms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Camera FPS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30 FPS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28–30 FPS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CPU Usage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&lt;20%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10–15%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Memory Usage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&lt;200MB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150MB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  <a:tr h="5302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Concurrent Users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100+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1a1a2e"/>
                          </a:solidFill>
                          <a:latin typeface="Calibri"/>
                        </a:rPr>
                        <a:t>Simulated 100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✅ </a:t>
                      </a:r>
                      <a:r>
                        <a:rPr b="1" lang="en-US" sz="1100" spc="-1" strike="noStrike">
                          <a:solidFill>
                            <a:srgbClr val="2e7d32"/>
                          </a:solidFill>
                          <a:latin typeface="Calibri"/>
                        </a:rPr>
                        <a:t>PASS</a:t>
                      </a:r>
                      <a:endParaRPr b="0" lang="en-IN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c8d8e8"/>
                      </a:solidFill>
                      <a:prstDash val="solid"/>
                    </a:lnL>
                    <a:lnR w="12240">
                      <a:solidFill>
                        <a:srgbClr val="c8d8e8"/>
                      </a:solidFill>
                      <a:prstDash val="solid"/>
                    </a:lnR>
                    <a:lnT w="12240">
                      <a:solidFill>
                        <a:srgbClr val="c8d8e8"/>
                      </a:solidFill>
                      <a:prstDash val="solid"/>
                    </a:lnT>
                    <a:lnB w="12240">
                      <a:solidFill>
                        <a:srgbClr val="c8d8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8" name="Shape 4"/>
          <p:cNvSpPr/>
          <p:nvPr/>
        </p:nvSpPr>
        <p:spPr>
          <a:xfrm>
            <a:off x="274320" y="4251960"/>
            <a:ext cx="2742480" cy="62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5"/>
          <p:cNvSpPr/>
          <p:nvPr/>
        </p:nvSpPr>
        <p:spPr>
          <a:xfrm>
            <a:off x="274320" y="4251960"/>
            <a:ext cx="2742480" cy="72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6"/>
          <p:cNvSpPr/>
          <p:nvPr/>
        </p:nvSpPr>
        <p:spPr>
          <a:xfrm>
            <a:off x="365760" y="43344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All 6 Performance Targets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7"/>
          <p:cNvSpPr/>
          <p:nvPr/>
        </p:nvSpPr>
        <p:spPr>
          <a:xfrm>
            <a:off x="365760" y="45720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e7d32"/>
                </a:solidFill>
                <a:latin typeface="Calibri"/>
              </a:rPr>
              <a:t>ACHIEVED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8"/>
          <p:cNvSpPr/>
          <p:nvPr/>
        </p:nvSpPr>
        <p:spPr>
          <a:xfrm>
            <a:off x="3227760" y="4251960"/>
            <a:ext cx="2742480" cy="62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9"/>
          <p:cNvSpPr/>
          <p:nvPr/>
        </p:nvSpPr>
        <p:spPr>
          <a:xfrm>
            <a:off x="3227760" y="4251960"/>
            <a:ext cx="2742480" cy="72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3319200" y="43344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Average System Accuracy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1"/>
          <p:cNvSpPr/>
          <p:nvPr/>
        </p:nvSpPr>
        <p:spPr>
          <a:xfrm>
            <a:off x="3319200" y="45720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565c0"/>
                </a:solidFill>
                <a:latin typeface="Calibri"/>
              </a:rPr>
              <a:t>87.4%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2"/>
          <p:cNvSpPr/>
          <p:nvPr/>
        </p:nvSpPr>
        <p:spPr>
          <a:xfrm>
            <a:off x="6181200" y="4251960"/>
            <a:ext cx="2742480" cy="621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3"/>
          <p:cNvSpPr/>
          <p:nvPr/>
        </p:nvSpPr>
        <p:spPr>
          <a:xfrm>
            <a:off x="6181200" y="4251960"/>
            <a:ext cx="2742480" cy="72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14"/>
          <p:cNvSpPr/>
          <p:nvPr/>
        </p:nvSpPr>
        <p:spPr>
          <a:xfrm>
            <a:off x="6272640" y="43344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a6a7a"/>
                </a:solidFill>
                <a:latin typeface="Calibri"/>
              </a:rPr>
              <a:t>Air Keyboard (min accuracy)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15"/>
          <p:cNvSpPr/>
          <p:nvPr/>
        </p:nvSpPr>
        <p:spPr>
          <a:xfrm>
            <a:off x="6272640" y="4572000"/>
            <a:ext cx="2559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5100"/>
                </a:solidFill>
                <a:latin typeface="Calibri"/>
              </a:rPr>
              <a:t>81%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CONCLUSION &amp; IMPACT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274320" y="777240"/>
            <a:ext cx="5211360" cy="397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274320" y="777240"/>
            <a:ext cx="5211360" cy="319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6"/>
          <p:cNvSpPr/>
          <p:nvPr/>
        </p:nvSpPr>
        <p:spPr>
          <a:xfrm>
            <a:off x="274320" y="777240"/>
            <a:ext cx="5211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CONCLUSION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384120" y="126180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8"/>
          <p:cNvSpPr/>
          <p:nvPr/>
        </p:nvSpPr>
        <p:spPr>
          <a:xfrm>
            <a:off x="567000" y="126180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Successfully implemented real-time hand gesture recognition using MediaPipe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9"/>
          <p:cNvSpPr/>
          <p:nvPr/>
        </p:nvSpPr>
        <p:spPr>
          <a:xfrm>
            <a:off x="384120" y="181044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10"/>
          <p:cNvSpPr/>
          <p:nvPr/>
        </p:nvSpPr>
        <p:spPr>
          <a:xfrm>
            <a:off x="567000" y="181044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Achieved 85–95% accuracy across 11 gestures with &lt;50ms end-to-end latency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>
            <a:off x="384120" y="235908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12"/>
          <p:cNvSpPr/>
          <p:nvPr/>
        </p:nvSpPr>
        <p:spPr>
          <a:xfrm>
            <a:off x="567000" y="235908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Built a production-ready client-server architecture with WebSocket synchronization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3"/>
          <p:cNvSpPr/>
          <p:nvPr/>
        </p:nvSpPr>
        <p:spPr>
          <a:xfrm>
            <a:off x="384120" y="290772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14"/>
          <p:cNvSpPr/>
          <p:nvPr/>
        </p:nvSpPr>
        <p:spPr>
          <a:xfrm>
            <a:off x="567000" y="290772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Developed auxiliary applications: Air Canvas, Air Keyboard, and Games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384120" y="345636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16"/>
          <p:cNvSpPr/>
          <p:nvPr/>
        </p:nvSpPr>
        <p:spPr>
          <a:xfrm>
            <a:off x="567000" y="345636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Integrated multi-modal feedback: sound, voice, and haptic systems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7"/>
          <p:cNvSpPr/>
          <p:nvPr/>
        </p:nvSpPr>
        <p:spPr>
          <a:xfrm>
            <a:off x="384120" y="4005000"/>
            <a:ext cx="72360" cy="4107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18"/>
          <p:cNvSpPr/>
          <p:nvPr/>
        </p:nvSpPr>
        <p:spPr>
          <a:xfrm>
            <a:off x="567000" y="400500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Created a responsive web dashboard with analytics and device management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9"/>
          <p:cNvSpPr/>
          <p:nvPr/>
        </p:nvSpPr>
        <p:spPr>
          <a:xfrm>
            <a:off x="5669280" y="777240"/>
            <a:ext cx="3199680" cy="397692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0"/>
          <p:cNvSpPr/>
          <p:nvPr/>
        </p:nvSpPr>
        <p:spPr>
          <a:xfrm>
            <a:off x="5669280" y="777240"/>
            <a:ext cx="3199680" cy="319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21"/>
          <p:cNvSpPr/>
          <p:nvPr/>
        </p:nvSpPr>
        <p:spPr>
          <a:xfrm>
            <a:off x="5669280" y="77724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IMPACT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5806440" y="1234440"/>
            <a:ext cx="29253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23"/>
          <p:cNvSpPr/>
          <p:nvPr/>
        </p:nvSpPr>
        <p:spPr>
          <a:xfrm>
            <a:off x="5897880" y="129852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💰  </a:t>
            </a: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Cost Reduction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24"/>
          <p:cNvSpPr/>
          <p:nvPr/>
        </p:nvSpPr>
        <p:spPr>
          <a:xfrm>
            <a:off x="5897880" y="1609200"/>
            <a:ext cx="2742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100% hardware cost saved using standard webcam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5"/>
          <p:cNvSpPr/>
          <p:nvPr/>
        </p:nvSpPr>
        <p:spPr>
          <a:xfrm>
            <a:off x="5806440" y="2350080"/>
            <a:ext cx="29253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26"/>
          <p:cNvSpPr/>
          <p:nvPr/>
        </p:nvSpPr>
        <p:spPr>
          <a:xfrm>
            <a:off x="5897880" y="241416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♿  </a:t>
            </a: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Accessibility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27"/>
          <p:cNvSpPr/>
          <p:nvPr/>
        </p:nvSpPr>
        <p:spPr>
          <a:xfrm>
            <a:off x="5897880" y="2724840"/>
            <a:ext cx="2742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Touchless interaction for disabled and medical users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8"/>
          <p:cNvSpPr/>
          <p:nvPr/>
        </p:nvSpPr>
        <p:spPr>
          <a:xfrm>
            <a:off x="5806440" y="3465720"/>
            <a:ext cx="29253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29"/>
          <p:cNvSpPr/>
          <p:nvPr/>
        </p:nvSpPr>
        <p:spPr>
          <a:xfrm>
            <a:off x="5897880" y="352944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🏠  </a:t>
            </a: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Smart Home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30"/>
          <p:cNvSpPr/>
          <p:nvPr/>
        </p:nvSpPr>
        <p:spPr>
          <a:xfrm>
            <a:off x="5897880" y="3840480"/>
            <a:ext cx="27424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Foundation for gesture-based home automation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FUTURE IMPROVEMENTS &amp; ROADMAP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4"/>
          <p:cNvSpPr/>
          <p:nvPr/>
        </p:nvSpPr>
        <p:spPr>
          <a:xfrm>
            <a:off x="274320" y="80460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5"/>
          <p:cNvSpPr/>
          <p:nvPr/>
        </p:nvSpPr>
        <p:spPr>
          <a:xfrm>
            <a:off x="274320" y="804600"/>
            <a:ext cx="2742480" cy="410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6"/>
          <p:cNvSpPr/>
          <p:nvPr/>
        </p:nvSpPr>
        <p:spPr>
          <a:xfrm>
            <a:off x="274320" y="8046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7"/>
          <p:cNvSpPr/>
          <p:nvPr/>
        </p:nvSpPr>
        <p:spPr>
          <a:xfrm>
            <a:off x="731520" y="80460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Gesture Precision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8"/>
          <p:cNvSpPr/>
          <p:nvPr/>
        </p:nvSpPr>
        <p:spPr>
          <a:xfrm>
            <a:off x="384120" y="130752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Improve tracking stability and reduce false positives in complex backgrounds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9"/>
          <p:cNvSpPr/>
          <p:nvPr/>
        </p:nvSpPr>
        <p:spPr>
          <a:xfrm>
            <a:off x="3227760" y="80460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0"/>
          <p:cNvSpPr/>
          <p:nvPr/>
        </p:nvSpPr>
        <p:spPr>
          <a:xfrm>
            <a:off x="3227760" y="804600"/>
            <a:ext cx="2742480" cy="41076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1"/>
          <p:cNvSpPr/>
          <p:nvPr/>
        </p:nvSpPr>
        <p:spPr>
          <a:xfrm>
            <a:off x="3227760" y="8046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12"/>
          <p:cNvSpPr/>
          <p:nvPr/>
        </p:nvSpPr>
        <p:spPr>
          <a:xfrm>
            <a:off x="3684960" y="80460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Low-End Device Optimization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13"/>
          <p:cNvSpPr/>
          <p:nvPr/>
        </p:nvSpPr>
        <p:spPr>
          <a:xfrm>
            <a:off x="3337560" y="130752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Optimize processing pipeline for slower hardware without sacrificing FPS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4"/>
          <p:cNvSpPr/>
          <p:nvPr/>
        </p:nvSpPr>
        <p:spPr>
          <a:xfrm>
            <a:off x="6181200" y="80460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5"/>
          <p:cNvSpPr/>
          <p:nvPr/>
        </p:nvSpPr>
        <p:spPr>
          <a:xfrm>
            <a:off x="6181200" y="804600"/>
            <a:ext cx="2742480" cy="41076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16"/>
          <p:cNvSpPr/>
          <p:nvPr/>
        </p:nvSpPr>
        <p:spPr>
          <a:xfrm>
            <a:off x="6181200" y="80460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17"/>
          <p:cNvSpPr/>
          <p:nvPr/>
        </p:nvSpPr>
        <p:spPr>
          <a:xfrm>
            <a:off x="6638400" y="80460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UI/UX Enhancement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18"/>
          <p:cNvSpPr/>
          <p:nvPr/>
        </p:nvSpPr>
        <p:spPr>
          <a:xfrm>
            <a:off x="6291000" y="130752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Redesigned dashboard with enhanced accessibility features and dark mode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19"/>
          <p:cNvSpPr/>
          <p:nvPr/>
        </p:nvSpPr>
        <p:spPr>
          <a:xfrm>
            <a:off x="274320" y="272484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0"/>
          <p:cNvSpPr/>
          <p:nvPr/>
        </p:nvSpPr>
        <p:spPr>
          <a:xfrm>
            <a:off x="274320" y="2724840"/>
            <a:ext cx="2742480" cy="410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21"/>
          <p:cNvSpPr/>
          <p:nvPr/>
        </p:nvSpPr>
        <p:spPr>
          <a:xfrm>
            <a:off x="274320" y="27248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22"/>
          <p:cNvSpPr/>
          <p:nvPr/>
        </p:nvSpPr>
        <p:spPr>
          <a:xfrm>
            <a:off x="731520" y="272484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Smart Device Integration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23"/>
          <p:cNvSpPr/>
          <p:nvPr/>
        </p:nvSpPr>
        <p:spPr>
          <a:xfrm>
            <a:off x="384120" y="322776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Expand to control IoT devices, TVs, and smart home hubs via API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4"/>
          <p:cNvSpPr/>
          <p:nvPr/>
        </p:nvSpPr>
        <p:spPr>
          <a:xfrm>
            <a:off x="3227760" y="272484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5"/>
          <p:cNvSpPr/>
          <p:nvPr/>
        </p:nvSpPr>
        <p:spPr>
          <a:xfrm>
            <a:off x="3227760" y="2724840"/>
            <a:ext cx="2742480" cy="410760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26"/>
          <p:cNvSpPr/>
          <p:nvPr/>
        </p:nvSpPr>
        <p:spPr>
          <a:xfrm>
            <a:off x="3227760" y="27248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27"/>
          <p:cNvSpPr/>
          <p:nvPr/>
        </p:nvSpPr>
        <p:spPr>
          <a:xfrm>
            <a:off x="3684960" y="272484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ML-Based Classification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28"/>
          <p:cNvSpPr/>
          <p:nvPr/>
        </p:nvSpPr>
        <p:spPr>
          <a:xfrm>
            <a:off x="3337560" y="322776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Replace rule-based engine with CNN model for higher accuracy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9"/>
          <p:cNvSpPr/>
          <p:nvPr/>
        </p:nvSpPr>
        <p:spPr>
          <a:xfrm>
            <a:off x="6181200" y="2724840"/>
            <a:ext cx="2742480" cy="1690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30"/>
          <p:cNvSpPr/>
          <p:nvPr/>
        </p:nvSpPr>
        <p:spPr>
          <a:xfrm>
            <a:off x="6181200" y="2724840"/>
            <a:ext cx="2742480" cy="410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31"/>
          <p:cNvSpPr/>
          <p:nvPr/>
        </p:nvSpPr>
        <p:spPr>
          <a:xfrm>
            <a:off x="6181200" y="2724840"/>
            <a:ext cx="456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32"/>
          <p:cNvSpPr/>
          <p:nvPr/>
        </p:nvSpPr>
        <p:spPr>
          <a:xfrm>
            <a:off x="6638400" y="2724840"/>
            <a:ext cx="2193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Real-World Scalability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33"/>
          <p:cNvSpPr/>
          <p:nvPr/>
        </p:nvSpPr>
        <p:spPr>
          <a:xfrm>
            <a:off x="6291000" y="3227760"/>
            <a:ext cx="2522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1a2e"/>
                </a:solidFill>
                <a:latin typeface="Calibri"/>
              </a:rPr>
              <a:t>Multi-user deployment testing and cloud-native WebSocket architecture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REFERENCES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4"/>
          <p:cNvSpPr/>
          <p:nvPr/>
        </p:nvSpPr>
        <p:spPr>
          <a:xfrm>
            <a:off x="274320" y="868680"/>
            <a:ext cx="8594640" cy="6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5"/>
          <p:cNvSpPr/>
          <p:nvPr/>
        </p:nvSpPr>
        <p:spPr>
          <a:xfrm>
            <a:off x="274320" y="868680"/>
            <a:ext cx="410760" cy="62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6"/>
          <p:cNvSpPr/>
          <p:nvPr/>
        </p:nvSpPr>
        <p:spPr>
          <a:xfrm>
            <a:off x="274320" y="868680"/>
            <a:ext cx="410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7"/>
          <p:cNvSpPr/>
          <p:nvPr/>
        </p:nvSpPr>
        <p:spPr>
          <a:xfrm>
            <a:off x="777240" y="868680"/>
            <a:ext cx="8000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Google MediaPipe. "Hand Landmarker Guide." Google Developers, 2024.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8"/>
          <p:cNvSpPr/>
          <p:nvPr/>
        </p:nvSpPr>
        <p:spPr>
          <a:xfrm>
            <a:off x="274320" y="1618560"/>
            <a:ext cx="8594640" cy="6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9"/>
          <p:cNvSpPr/>
          <p:nvPr/>
        </p:nvSpPr>
        <p:spPr>
          <a:xfrm>
            <a:off x="274320" y="1618560"/>
            <a:ext cx="410760" cy="62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10"/>
          <p:cNvSpPr/>
          <p:nvPr/>
        </p:nvSpPr>
        <p:spPr>
          <a:xfrm>
            <a:off x="274320" y="1618560"/>
            <a:ext cx="410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1"/>
          <p:cNvSpPr/>
          <p:nvPr/>
        </p:nvSpPr>
        <p:spPr>
          <a:xfrm>
            <a:off x="777240" y="1618560"/>
            <a:ext cx="8000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Lugaresi, Camillo, et al. "MediaPipe: A Framework for Building Perception Pipelines." arXiv:1906.08172, 2019.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12"/>
          <p:cNvSpPr/>
          <p:nvPr/>
        </p:nvSpPr>
        <p:spPr>
          <a:xfrm>
            <a:off x="274320" y="2368440"/>
            <a:ext cx="8594640" cy="6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3"/>
          <p:cNvSpPr/>
          <p:nvPr/>
        </p:nvSpPr>
        <p:spPr>
          <a:xfrm>
            <a:off x="274320" y="2368440"/>
            <a:ext cx="410760" cy="62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14"/>
          <p:cNvSpPr/>
          <p:nvPr/>
        </p:nvSpPr>
        <p:spPr>
          <a:xfrm>
            <a:off x="274320" y="2368440"/>
            <a:ext cx="410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15"/>
          <p:cNvSpPr/>
          <p:nvPr/>
        </p:nvSpPr>
        <p:spPr>
          <a:xfrm>
            <a:off x="777240" y="2368440"/>
            <a:ext cx="8000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Zhang, Fan, et al. "MediaPipe Hands: On-device Real-time Hand Tracking." arXiv:2006.10214, 2020.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6"/>
          <p:cNvSpPr/>
          <p:nvPr/>
        </p:nvSpPr>
        <p:spPr>
          <a:xfrm>
            <a:off x="274320" y="3117960"/>
            <a:ext cx="8594640" cy="6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7"/>
          <p:cNvSpPr/>
          <p:nvPr/>
        </p:nvSpPr>
        <p:spPr>
          <a:xfrm>
            <a:off x="274320" y="3117960"/>
            <a:ext cx="410760" cy="62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18"/>
          <p:cNvSpPr/>
          <p:nvPr/>
        </p:nvSpPr>
        <p:spPr>
          <a:xfrm>
            <a:off x="274320" y="3117960"/>
            <a:ext cx="410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9"/>
          <p:cNvSpPr/>
          <p:nvPr/>
        </p:nvSpPr>
        <p:spPr>
          <a:xfrm>
            <a:off x="777240" y="3117960"/>
            <a:ext cx="8000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Bradski, Gary, and Adrian Kaehler. Learning OpenCV: Computer Vision with the OpenCV Library. O'Reilly Media, 2008.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20"/>
          <p:cNvSpPr/>
          <p:nvPr/>
        </p:nvSpPr>
        <p:spPr>
          <a:xfrm>
            <a:off x="274320" y="3867840"/>
            <a:ext cx="8594640" cy="6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1"/>
          <p:cNvSpPr/>
          <p:nvPr/>
        </p:nvSpPr>
        <p:spPr>
          <a:xfrm>
            <a:off x="274320" y="3867840"/>
            <a:ext cx="410760" cy="62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2"/>
          <p:cNvSpPr/>
          <p:nvPr/>
        </p:nvSpPr>
        <p:spPr>
          <a:xfrm>
            <a:off x="274320" y="3867840"/>
            <a:ext cx="41076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23"/>
          <p:cNvSpPr/>
          <p:nvPr/>
        </p:nvSpPr>
        <p:spPr>
          <a:xfrm>
            <a:off x="777240" y="3867840"/>
            <a:ext cx="80002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Grinberg, Miguel. Flask Web Development: Developing Web Applications with Python. 2nd ed., O'Reilly Media, 2018.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0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1"/>
          <p:cNvSpPr/>
          <p:nvPr/>
        </p:nvSpPr>
        <p:spPr>
          <a:xfrm>
            <a:off x="0" y="0"/>
            <a:ext cx="109080" cy="65772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2"/>
          <p:cNvSpPr/>
          <p:nvPr/>
        </p:nvSpPr>
        <p:spPr>
          <a:xfrm>
            <a:off x="201240" y="0"/>
            <a:ext cx="8686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LIVE DEMO — Demonstration Sequence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4"/>
          <p:cNvSpPr/>
          <p:nvPr/>
        </p:nvSpPr>
        <p:spPr>
          <a:xfrm>
            <a:off x="274320" y="777240"/>
            <a:ext cx="8594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a6a7a"/>
                </a:solidFill>
                <a:latin typeface="Calibri"/>
              </a:rPr>
              <a:t>Planned sequence showcasing key functionalities of the gesture control system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5"/>
          <p:cNvSpPr/>
          <p:nvPr/>
        </p:nvSpPr>
        <p:spPr>
          <a:xfrm>
            <a:off x="274320" y="118872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6"/>
          <p:cNvSpPr/>
          <p:nvPr/>
        </p:nvSpPr>
        <p:spPr>
          <a:xfrm>
            <a:off x="274320" y="118872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274320" y="11887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1. Server Startup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8"/>
          <p:cNvSpPr/>
          <p:nvPr/>
        </p:nvSpPr>
        <p:spPr>
          <a:xfrm>
            <a:off x="365760" y="15912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Show terminal with WebSocket ready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9"/>
          <p:cNvSpPr/>
          <p:nvPr/>
        </p:nvSpPr>
        <p:spPr>
          <a:xfrm>
            <a:off x="2450520" y="118872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0"/>
          <p:cNvSpPr/>
          <p:nvPr/>
        </p:nvSpPr>
        <p:spPr>
          <a:xfrm>
            <a:off x="2450520" y="118872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11"/>
          <p:cNvSpPr/>
          <p:nvPr/>
        </p:nvSpPr>
        <p:spPr>
          <a:xfrm>
            <a:off x="2450520" y="11887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2. Login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12"/>
          <p:cNvSpPr/>
          <p:nvPr/>
        </p:nvSpPr>
        <p:spPr>
          <a:xfrm>
            <a:off x="2541960" y="15912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admin/admin123 → Dashboard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3"/>
          <p:cNvSpPr/>
          <p:nvPr/>
        </p:nvSpPr>
        <p:spPr>
          <a:xfrm>
            <a:off x="4626720" y="118872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4"/>
          <p:cNvSpPr/>
          <p:nvPr/>
        </p:nvSpPr>
        <p:spPr>
          <a:xfrm>
            <a:off x="4626720" y="118872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15"/>
          <p:cNvSpPr/>
          <p:nvPr/>
        </p:nvSpPr>
        <p:spPr>
          <a:xfrm>
            <a:off x="4626720" y="11887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3. Gesture Client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16"/>
          <p:cNvSpPr/>
          <p:nvPr/>
        </p:nvSpPr>
        <p:spPr>
          <a:xfrm>
            <a:off x="4718160" y="15912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Run gesture_client.py --offline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7"/>
          <p:cNvSpPr/>
          <p:nvPr/>
        </p:nvSpPr>
        <p:spPr>
          <a:xfrm>
            <a:off x="6803280" y="118872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18"/>
          <p:cNvSpPr/>
          <p:nvPr/>
        </p:nvSpPr>
        <p:spPr>
          <a:xfrm>
            <a:off x="6803280" y="118872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6803280" y="11887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4. Cursor Control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20"/>
          <p:cNvSpPr/>
          <p:nvPr/>
        </p:nvSpPr>
        <p:spPr>
          <a:xfrm>
            <a:off x="6894720" y="159120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Index finger movement tracking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1"/>
          <p:cNvSpPr/>
          <p:nvPr/>
        </p:nvSpPr>
        <p:spPr>
          <a:xfrm>
            <a:off x="274320" y="228600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2"/>
          <p:cNvSpPr/>
          <p:nvPr/>
        </p:nvSpPr>
        <p:spPr>
          <a:xfrm>
            <a:off x="274320" y="228600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23"/>
          <p:cNvSpPr/>
          <p:nvPr/>
        </p:nvSpPr>
        <p:spPr>
          <a:xfrm>
            <a:off x="274320" y="22860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5. Click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4"/>
          <p:cNvSpPr/>
          <p:nvPr/>
        </p:nvSpPr>
        <p:spPr>
          <a:xfrm>
            <a:off x="365760" y="2688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Pinch gesture detection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5"/>
          <p:cNvSpPr/>
          <p:nvPr/>
        </p:nvSpPr>
        <p:spPr>
          <a:xfrm>
            <a:off x="2450520" y="228600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6"/>
          <p:cNvSpPr/>
          <p:nvPr/>
        </p:nvSpPr>
        <p:spPr>
          <a:xfrm>
            <a:off x="2450520" y="228600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27"/>
          <p:cNvSpPr/>
          <p:nvPr/>
        </p:nvSpPr>
        <p:spPr>
          <a:xfrm>
            <a:off x="2450520" y="22860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6. Scroll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Text 28"/>
          <p:cNvSpPr/>
          <p:nvPr/>
        </p:nvSpPr>
        <p:spPr>
          <a:xfrm>
            <a:off x="2541960" y="2688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Three-finger vertical movement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29"/>
          <p:cNvSpPr/>
          <p:nvPr/>
        </p:nvSpPr>
        <p:spPr>
          <a:xfrm>
            <a:off x="4626720" y="228600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30"/>
          <p:cNvSpPr/>
          <p:nvPr/>
        </p:nvSpPr>
        <p:spPr>
          <a:xfrm>
            <a:off x="4626720" y="228600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31"/>
          <p:cNvSpPr/>
          <p:nvPr/>
        </p:nvSpPr>
        <p:spPr>
          <a:xfrm>
            <a:off x="4626720" y="22860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7. Zoom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32"/>
          <p:cNvSpPr/>
          <p:nvPr/>
        </p:nvSpPr>
        <p:spPr>
          <a:xfrm>
            <a:off x="4718160" y="2688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Three-finger pinch ratio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33"/>
          <p:cNvSpPr/>
          <p:nvPr/>
        </p:nvSpPr>
        <p:spPr>
          <a:xfrm>
            <a:off x="6803280" y="228600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34"/>
          <p:cNvSpPr/>
          <p:nvPr/>
        </p:nvSpPr>
        <p:spPr>
          <a:xfrm>
            <a:off x="6803280" y="228600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35"/>
          <p:cNvSpPr/>
          <p:nvPr/>
        </p:nvSpPr>
        <p:spPr>
          <a:xfrm>
            <a:off x="6803280" y="228600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8. Screenshot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36"/>
          <p:cNvSpPr/>
          <p:nvPr/>
        </p:nvSpPr>
        <p:spPr>
          <a:xfrm>
            <a:off x="6894720" y="2688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Open palm hold for 4 seconds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37"/>
          <p:cNvSpPr/>
          <p:nvPr/>
        </p:nvSpPr>
        <p:spPr>
          <a:xfrm>
            <a:off x="274320" y="338328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38"/>
          <p:cNvSpPr/>
          <p:nvPr/>
        </p:nvSpPr>
        <p:spPr>
          <a:xfrm>
            <a:off x="274320" y="338328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39"/>
          <p:cNvSpPr/>
          <p:nvPr/>
        </p:nvSpPr>
        <p:spPr>
          <a:xfrm>
            <a:off x="274320" y="33832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9. Air Canvas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40"/>
          <p:cNvSpPr/>
          <p:nvPr/>
        </p:nvSpPr>
        <p:spPr>
          <a:xfrm>
            <a:off x="365760" y="3785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Draw using different fingers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41"/>
          <p:cNvSpPr/>
          <p:nvPr/>
        </p:nvSpPr>
        <p:spPr>
          <a:xfrm>
            <a:off x="2450520" y="338328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42"/>
          <p:cNvSpPr/>
          <p:nvPr/>
        </p:nvSpPr>
        <p:spPr>
          <a:xfrm>
            <a:off x="2450520" y="338328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43"/>
          <p:cNvSpPr/>
          <p:nvPr/>
        </p:nvSpPr>
        <p:spPr>
          <a:xfrm>
            <a:off x="2450520" y="33832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10. Air Keyboard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44"/>
          <p:cNvSpPr/>
          <p:nvPr/>
        </p:nvSpPr>
        <p:spPr>
          <a:xfrm>
            <a:off x="2541960" y="3785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Write letters, show word prediction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45"/>
          <p:cNvSpPr/>
          <p:nvPr/>
        </p:nvSpPr>
        <p:spPr>
          <a:xfrm>
            <a:off x="4626720" y="338328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46"/>
          <p:cNvSpPr/>
          <p:nvPr/>
        </p:nvSpPr>
        <p:spPr>
          <a:xfrm>
            <a:off x="4626720" y="338328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 47"/>
          <p:cNvSpPr/>
          <p:nvPr/>
        </p:nvSpPr>
        <p:spPr>
          <a:xfrm>
            <a:off x="4626720" y="33832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11. Games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48"/>
          <p:cNvSpPr/>
          <p:nvPr/>
        </p:nvSpPr>
        <p:spPr>
          <a:xfrm>
            <a:off x="4718160" y="3785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Play Flappy Pulse with PINCH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49"/>
          <p:cNvSpPr/>
          <p:nvPr/>
        </p:nvSpPr>
        <p:spPr>
          <a:xfrm>
            <a:off x="6803280" y="338328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50"/>
          <p:cNvSpPr/>
          <p:nvPr/>
        </p:nvSpPr>
        <p:spPr>
          <a:xfrm>
            <a:off x="6803280" y="338328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51"/>
          <p:cNvSpPr/>
          <p:nvPr/>
        </p:nvSpPr>
        <p:spPr>
          <a:xfrm>
            <a:off x="6803280" y="338328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12. Smart Home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52"/>
          <p:cNvSpPr/>
          <p:nvPr/>
        </p:nvSpPr>
        <p:spPr>
          <a:xfrm>
            <a:off x="6894720" y="378576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Point UP/DOWN, Peace, Fist, Emergency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53"/>
          <p:cNvSpPr/>
          <p:nvPr/>
        </p:nvSpPr>
        <p:spPr>
          <a:xfrm>
            <a:off x="274320" y="4480560"/>
            <a:ext cx="2010960" cy="91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54"/>
          <p:cNvSpPr/>
          <p:nvPr/>
        </p:nvSpPr>
        <p:spPr>
          <a:xfrm>
            <a:off x="274320" y="4480560"/>
            <a:ext cx="2010960" cy="346680"/>
          </a:xfrm>
          <a:prstGeom prst="rect">
            <a:avLst/>
          </a:prstGeom>
          <a:solidFill>
            <a:srgbClr val="0a1b3d"/>
          </a:solidFill>
          <a:ln w="12700">
            <a:solidFill>
              <a:srgbClr val="0a1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55"/>
          <p:cNvSpPr/>
          <p:nvPr/>
        </p:nvSpPr>
        <p:spPr>
          <a:xfrm>
            <a:off x="274320" y="448056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8d9"/>
                </a:solidFill>
                <a:latin typeface="Calibri"/>
              </a:rPr>
              <a:t>13. Analytics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56"/>
          <p:cNvSpPr/>
          <p:nvPr/>
        </p:nvSpPr>
        <p:spPr>
          <a:xfrm>
            <a:off x="365760" y="488304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1a2e"/>
                </a:solidFill>
                <a:latin typeface="Calibri"/>
              </a:rPr>
              <a:t>Dashboard updates in real-time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57"/>
          <p:cNvSpPr/>
          <p:nvPr/>
        </p:nvSpPr>
        <p:spPr>
          <a:xfrm>
            <a:off x="274320" y="4846320"/>
            <a:ext cx="85946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a6a7a"/>
                </a:solidFill>
                <a:latin typeface="Calibri"/>
              </a:rPr>
              <a:t>All features will be demonstrated live with the webcam-based gesture client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"/>
          <p:cNvSpPr/>
          <p:nvPr/>
        </p:nvSpPr>
        <p:spPr>
          <a:xfrm>
            <a:off x="5486400" y="-731520"/>
            <a:ext cx="4571280" cy="4571280"/>
          </a:xfrm>
          <a:prstGeom prst="ellipse">
            <a:avLst/>
          </a:prstGeom>
          <a:solidFill>
            <a:srgbClr val="0d2a5e">
              <a:alpha val="60000"/>
            </a:srgbClr>
          </a:solidFill>
          <a:ln w="12700">
            <a:solidFill>
              <a:srgbClr val="0d2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2"/>
          <p:cNvSpPr/>
          <p:nvPr/>
        </p:nvSpPr>
        <p:spPr>
          <a:xfrm>
            <a:off x="457200" y="1188720"/>
            <a:ext cx="7771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596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3"/>
          <p:cNvSpPr/>
          <p:nvPr/>
        </p:nvSpPr>
        <p:spPr>
          <a:xfrm>
            <a:off x="457200" y="2286000"/>
            <a:ext cx="4114080" cy="4500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4"/>
          <p:cNvSpPr/>
          <p:nvPr/>
        </p:nvSpPr>
        <p:spPr>
          <a:xfrm>
            <a:off x="457200" y="2468880"/>
            <a:ext cx="7771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b0c4de"/>
                </a:solidFill>
                <a:latin typeface="Calibri"/>
              </a:rPr>
              <a:t>Gesture Control System — MCA Final Year Project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5"/>
          <p:cNvSpPr/>
          <p:nvPr/>
        </p:nvSpPr>
        <p:spPr>
          <a:xfrm>
            <a:off x="457200" y="3017520"/>
            <a:ext cx="77716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b8d9"/>
                </a:solidFill>
                <a:latin typeface="Calibri"/>
              </a:rPr>
              <a:t>Questions &amp; Discussion Welcome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6"/>
          <p:cNvSpPr/>
          <p:nvPr/>
        </p:nvSpPr>
        <p:spPr>
          <a:xfrm>
            <a:off x="457200" y="36576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4f0"/>
                </a:solidFill>
                <a:latin typeface="Calibri"/>
              </a:rPr>
              <a:t>Bholasankar Sethi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Text 7"/>
          <p:cNvSpPr/>
          <p:nvPr/>
        </p:nvSpPr>
        <p:spPr>
          <a:xfrm>
            <a:off x="457200" y="396864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4f0"/>
                </a:solidFill>
                <a:latin typeface="Calibri"/>
              </a:rPr>
              <a:t>Sai Yangyadatta Sethy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8"/>
          <p:cNvSpPr/>
          <p:nvPr/>
        </p:nvSpPr>
        <p:spPr>
          <a:xfrm>
            <a:off x="457200" y="427932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0e4f0"/>
                </a:solidFill>
                <a:latin typeface="Calibri"/>
              </a:rPr>
              <a:t>Sanjib Sahu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 9"/>
          <p:cNvSpPr/>
          <p:nvPr/>
        </p:nvSpPr>
        <p:spPr>
          <a:xfrm>
            <a:off x="457200" y="4663440"/>
            <a:ext cx="5485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8d9"/>
                </a:solidFill>
                <a:latin typeface="Calibri"/>
              </a:rPr>
              <a:t>Guide: Mr. Bijswojit Nayak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LibreOffice/7.6.4.1$Windows_X86_64 LibreOffice_project/e19e193f88cd6c0525a17fb7a176ed8e6a3e2aa1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2026-05-10T19:19:09Z</dcterms:created>
  <dc:creator>PptxGenJS</dc:creator>
  <dc:description/>
  <dc:language>en-IN</dc:language>
  <cp:lastModifiedBy/>
  <dcterms:modified xsi:type="dcterms:W3CDTF">2026-05-11T08:30:56Z</dcterms:modified>
  <cp:revision>4</cp:revision>
  <dc:subject>PptxGenJS Presentation</dc:subject>
  <dc:title>Gesture Control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